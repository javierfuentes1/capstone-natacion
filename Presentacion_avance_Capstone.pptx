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natación se compite en dos piscinas, de 25 y de 50 metros. La misma prueba en piscina corta obliga al doble de virajes, y cada viraje regala tiempo: el nadador empuja la pared y viaja bajo el agua, que es más rápido que nadar en superficie. La pregunta es si esa ventaja vale lo mismo en todas las pruebas. Importa porque World Aquatics acepta marcas de ambas piscinas para clasificar a un campeonato, pero con dos tablas de marcas mínimas separadas: la razón entre esas dos exigencias es la equivalencia que la federación aplica de hecho. Lo medimos sobre 43.914 pares de marcas del mismo nadador en las dos piscinas.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fuente es la API pública de rankings de World Aquatics, que no pide clave: 424 mil nados de 71 mil nadadores de 215 países en la temporada 2024, pedidos mes a mes. De ahí sale la unidad de análisis, que son los 43.914 pares: el mismo nadador con marca en las dos piscinas, misma prueba y misma temporada. Ese diseño dentro-nadador elimina el talento, la edad y el entrenamiento sin tener que controlarlos. La variable central es el factor, el cociente entre ambos tiempos. Usamos la mejor marca del año de cada nadador, porque una marca mínima se cumple con un solo nado. A la derecha, la limpieza: dos faltantes disfrazados —un club llamado No, que es el centinela de la API, y 389 edades imposibles, porque el ranking mensual mezcla torneos juveniles con élite—, los registros repetidos que ese mismo ranking produce, y un trece y medio por ciento de pares donde la piscina larga salió más rápida. Esos últimos no son errores: son nadadores en distinta forma en cada calendario, y los conservamos porque recortar una sola cola subiría el factor artificialmente. Declaramos además los términos de uso: no redistribuimos los datos crudos.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hallazgo. En el eje vertical, los segundos que gana un nadador por cada vuelta extra; en el horizontal, la distancia. Si cada vuelta valiera lo mismo, estas líneas serían planas y estarían una encima de otra. No lo están: espalda y pecho van arriba, mariposa abajo, y todas suben con la distancia. Y el orden de los estilos es idéntico en los dos paneles; que el mismo patrón se repita en dos poblaciones independientes indica que responde a la mecánica del nado y no al ruido. Tiene sentido físico: en espalda y pecho el nado en superficie es lento comparado con el deslizamiento bajo el agua después de la pared, así que cada viraje regala más. El factor va de 1,0181 en 100 mariposa femenino a 1,0521 en 200 espalda masculino: la ventaja es 2,9 veces mayor en una prueba que en otra. Y calculamos por bootstrap el intervalo del 95 por ciento de los 24 factores: los de esos dos extremos son 1,0167 a 1,0195 y 1,0504 a 1,0537, así que ni se acercan. La diferencia no cabe dentro del error de muestreo.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hallazgo. Las dos distribuciones tienen la misma forma y están desplazadas: la de los hombres, a la derecha. Comparamos prueba por prueba con Mann-Whitney, que no supone normalidad, porque ya habíamos medido colas muy pesadas. El resultado es unánime: los hombres tienen mayor factor en las doce pruebas comparables, con diferencias de seis décimas a un punto y dos décimas porcentuales. Este es el hallazgo más citable, porque contradice al estudio más reciente que encontramos, de este año, con los rankings españoles. No decimos que ese estudio esté equivocado: decimos que su conclusión no se puede dar por general, porque son doscientos nadadores de un país por categoría de edad contra la élite mundial de una temporada. Y que, por lo tanto, una tabla de factores debería separar hombres de mujeres.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hallazgo, y el que conecta con la pregunta inicial. World Aquatics no publica un factor de conversión, pero sí dos tablas de marcas mínimas, una por tipo de piscina, y la razón entre ambas es la equivalencia que aplica de hecho. Con cuidado en la lectura: la correlación de 0,803 dice que la tabla no es arbitraria, captura bien la tendencia por estilo, y en siete de las veinticuatro pruebas la diferencia es menor a tres décimas de segundo, que es ruido. Pero dieciséis pruebas salen más baratas en piscina corta contra ocho en larga. Lo que sí muestran los datos es que se desvía de forma inconsistente entre pruebas, con casos como los 400 combinado femeninos, donde la diferencia llega a 3,7 segundos. La afirmación que sostenemos es esa, no que la tabla esté mal calibrada.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primer modelo. Regresamos la diferencia de tiempo entre piscinas sobre las vueltas extra, que es la distancia dividida en cincuenta, ajustado por mínimos cuadrados para cada estilo y sexo. La pendiente es directamente la ventaja por vuelta de ese estilo, y el gráfico la muestra con su intervalo de confianza del 95 por ciento. Va de 0,98 segundos en libre femenino a 1,86 en espalda masculino, y los intervalos de libre y de espalda ni se rozan: la diferencia entre estilos no es ruido muestral. Los hombres están por encima de las mujeres en los cinco estilos, consistente con el hallazgo anterior. El intercepto es −0,41 segundos y no es cero: si las vueltas explicaran toda la diferencia, la recta pasaría por el origen. Como ningún nado tiene cero vueltas extra, ese número es extrapolación y no lo leemos literalmente; lo que dice es que una relación puramente proporcional no ajusta, y que hay un segundo mecanismo en juego. Y hay una sorpresa: medida por vuelta, mariposa gana más que libre, al revés de lo que dice el factor. No es contradicción: el factor divide esa ventaja por un tiempo total que en mariposa es mayor. Un modelo lineal es una asociación, no una causa; lo que afirmamos es cuánta diferencia hay por vuelta, no que la vuelta sea lo único que la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cosas que revisamos de nuestro propio análisis. La primera: el factor es un cociente, y si uno define élite mirando solo uno de los dos lados, la correlación que aparece es un artefacto. Seleccionar a alguien por su buen tiempo en 50 elige a quien tuvo buena temporada larga, y su tiempo en 25, que no se usó para elegirlo, queda relativamente más lento. La mediana se mueve casi un punto porcentual sin que cambie ningún nadador. Con la definición neutral queda a tres diezmilésimas del total: sigue siendo significativa por el tamaño de la muestra, pero deja de importar, y eso es lo que nos habilita a compararla con una tabla de mínimas de nivel más alto. La segunda: el ranking mensual nos da varias marcas por nadador en la misma temporada, así que hubo que decidir cuál entra al cociente. Con la mejor marca el factor da 1,0318 y con la mediana del año 1,0354. La diferencia no es neutra, porque en piscina larga la mayoría tiene dos o más registros y en corta uno solo, de modo que la mediana castiga sobre todo al numerador. Vamos con la mejor marca, que es con la que efectivamente se cumple una mínima, y dejamos la mediana como análisis de sensibilidad.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las limitaciones. La muestra son los mejores de cada ranking, no es aleatoria: todo lo que decimos describe a la élite competitiva. Un nadador puede estar en distinta forma en cada calendario, y el diseño dentro-nadador lo promedia sobre miles de casos pero no lo elimina. Es un solo año. Y el modelo es una asociación, no una causa: mide cuánta diferencia hay por vuelta, no que la vuelta sea lo único que la produce. Lo que sigue es el informe del viernes, con el modelo y la base mensual ya incorporada, los intervalos de confianza por prueba con lo de la clase 5, y una regresión regularizada con lo de la clase 7 para comprobar que las conclusiones no dependen de las pruebas con menos pares. Más adelante, varias temporadas, para separar el efecto del calendario del efecto de la piscina. Quedamos atentos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D5C"/>
        </a:solidFill>
      </p:bgPr>
    </p:bg>
    <p:spTree>
      <p:nvGrpSpPr>
        <p:cNvPr id="1" name=""/>
        <p:cNvGrpSpPr/>
        <p:nvPr/>
      </p:nvGrpSpPr>
      <p:grpSpPr>
        <a:xfrm>
          <a:off x="0" y="0"/>
          <a:ext cx="0" cy="0"/>
          <a:chOff x="0" y="0"/>
          <a:chExt cx="0" cy="0"/>
        </a:xfrm>
      </p:grpSpPr>
      <p:sp>
        <p:nvSpPr>
          <p:cNvPr id="2" name="Text 0"/>
          <p:cNvSpPr txBox="1"/>
          <p:nvPr/>
        </p:nvSpPr>
        <p:spPr>
          <a:xfrm>
            <a:off x="502920" y="411480"/>
            <a:ext cx="8138160" cy="274320"/>
          </a:xfrm>
          <a:prstGeom prst="rect">
            <a:avLst/>
          </a:prstGeom>
          <a:noFill/>
          <a:ln/>
        </p:spPr>
        <p:txBody>
          <a:bodyPr wrap="square" lIns="0" tIns="0" rIns="0" bIns="0" rtlCol="0" anchor="ctr"/>
          <a:lstStyle/>
          <a:p>
            <a:pPr indent="0" marL="0">
              <a:buNone/>
            </a:pPr>
            <a:r>
              <a:rPr lang="en-US" sz="1100" spc="60" kern="0" dirty="0">
                <a:solidFill>
                  <a:srgbClr val="9FC4D6"/>
                </a:solidFill>
                <a:latin typeface="Calibri" pitchFamily="34" charset="0"/>
                <a:ea typeface="Calibri" pitchFamily="34" charset="-122"/>
                <a:cs typeface="Calibri" pitchFamily="34" charset="-120"/>
              </a:rPr>
              <a:t>Diplomado en Ciencia de Datos Aplicada · UTFSM · Módulo 1 · Avance del proyecto</a:t>
            </a:r>
            <a:endParaRPr lang="en-US" sz="1100" dirty="0"/>
          </a:p>
        </p:txBody>
      </p:sp>
      <p:sp>
        <p:nvSpPr>
          <p:cNvPr id="3" name="Text 1"/>
          <p:cNvSpPr txBox="1"/>
          <p:nvPr/>
        </p:nvSpPr>
        <p:spPr>
          <a:xfrm>
            <a:off x="502920" y="960120"/>
            <a:ext cx="8138160" cy="1234440"/>
          </a:xfrm>
          <a:prstGeom prst="rect">
            <a:avLst/>
          </a:prstGeom>
          <a:noFill/>
          <a:ln/>
        </p:spPr>
        <p:txBody>
          <a:bodyPr wrap="square" lIns="0" tIns="0" rIns="0" bIns="0" rtlCol="0" anchor="ctr"/>
          <a:lstStyle/>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¿Es igual de difícil clasificar nadando</a:t>
            </a:r>
            <a:endParaRPr lang="en-US" sz="3200" dirty="0"/>
          </a:p>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en piscina de 25 metros que en una de 50?</a:t>
            </a:r>
            <a:endParaRPr lang="en-US" sz="3200" dirty="0"/>
          </a:p>
        </p:txBody>
      </p:sp>
      <p:sp>
        <p:nvSpPr>
          <p:cNvPr id="4" name="Text 2"/>
          <p:cNvSpPr txBox="1"/>
          <p:nvPr/>
        </p:nvSpPr>
        <p:spPr>
          <a:xfrm>
            <a:off x="502920" y="2331720"/>
            <a:ext cx="5029200" cy="1097280"/>
          </a:xfrm>
          <a:prstGeom prst="rect">
            <a:avLst/>
          </a:prstGeom>
          <a:noFill/>
          <a:ln/>
        </p:spPr>
        <p:txBody>
          <a:bodyPr wrap="square" lIns="0" tIns="0" rIns="0" bIns="0" rtlCol="0" anchor="ctr"/>
          <a:lstStyle/>
          <a:p>
            <a:pPr indent="0" marL="0">
              <a:lnSpc>
                <a:spcPct val="115000"/>
              </a:lnSpc>
              <a:buNone/>
            </a:pPr>
            <a:r>
              <a:rPr lang="en-US" sz="1300" dirty="0">
                <a:solidFill>
                  <a:srgbClr val="CFE3EE"/>
                </a:solidFill>
                <a:latin typeface="Calibri" pitchFamily="34" charset="0"/>
                <a:ea typeface="Calibri" pitchFamily="34" charset="-122"/>
                <a:cs typeface="Calibri" pitchFamily="34" charset="-120"/>
              </a:rPr>
              <a:t>En piscina corta se dan el doble de vueltas, y cada vuelta regala tiempo. World Aquatics acepta marcas de las dos piscinas para clasificar, con dos tablas de mínimas distintas. Si esas exigencias no son equivalentes, clasificar sale más barato en una piscina que en la otra.</a:t>
            </a:r>
            <a:endParaRPr lang="en-US" sz="1300" dirty="0"/>
          </a:p>
        </p:txBody>
      </p:sp>
      <p:sp>
        <p:nvSpPr>
          <p:cNvPr id="5" name="Shape 3"/>
          <p:cNvSpPr/>
          <p:nvPr/>
        </p:nvSpPr>
        <p:spPr>
          <a:xfrm>
            <a:off x="5806440" y="2286000"/>
            <a:ext cx="2834640" cy="1207008"/>
          </a:xfrm>
          <a:prstGeom prst="roundRect">
            <a:avLst>
              <a:gd name="adj" fmla="val 4545"/>
            </a:avLst>
          </a:prstGeom>
          <a:solidFill>
            <a:srgbClr val="0F4E72"/>
          </a:solidFill>
          <a:ln w="12700">
            <a:solidFill>
              <a:srgbClr val="0F4E72"/>
            </a:solidFill>
            <a:prstDash val="solid"/>
          </a:ln>
        </p:spPr>
      </p:sp>
      <p:sp>
        <p:nvSpPr>
          <p:cNvPr id="6" name="Text 4"/>
          <p:cNvSpPr txBox="1"/>
          <p:nvPr/>
        </p:nvSpPr>
        <p:spPr>
          <a:xfrm>
            <a:off x="5989320" y="2377440"/>
            <a:ext cx="2468880" cy="54864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43.914</a:t>
            </a:r>
            <a:endParaRPr lang="en-US" sz="3300" dirty="0"/>
          </a:p>
        </p:txBody>
      </p:sp>
      <p:sp>
        <p:nvSpPr>
          <p:cNvPr id="7" name="Text 5"/>
          <p:cNvSpPr txBox="1"/>
          <p:nvPr/>
        </p:nvSpPr>
        <p:spPr>
          <a:xfrm>
            <a:off x="5989320" y="2926080"/>
            <a:ext cx="2468880" cy="493776"/>
          </a:xfrm>
          <a:prstGeom prst="rect">
            <a:avLst/>
          </a:prstGeom>
          <a:noFill/>
          <a:ln/>
        </p:spPr>
        <p:txBody>
          <a:bodyPr wrap="square" lIns="0" tIns="0" rIns="0" bIns="0" rtlCol="0" anchor="ctr"/>
          <a:lstStyle/>
          <a:p>
            <a:pPr indent="0" marL="0">
              <a:lnSpc>
                <a:spcPct val="110000"/>
              </a:lnSpc>
              <a:buNone/>
            </a:pPr>
            <a:r>
              <a:rPr lang="en-US" sz="1000" dirty="0">
                <a:solidFill>
                  <a:srgbClr val="9FC4D6"/>
                </a:solidFill>
                <a:latin typeface="Calibri" pitchFamily="34" charset="0"/>
                <a:ea typeface="Calibri" pitchFamily="34" charset="-122"/>
                <a:cs typeface="Calibri" pitchFamily="34" charset="-120"/>
              </a:rPr>
              <a:t>pares de marcas del mismo nadador</a:t>
            </a:r>
            <a:endParaRPr lang="en-US" sz="1000" dirty="0"/>
          </a:p>
          <a:p>
            <a:pPr indent="0" marL="0">
              <a:lnSpc>
                <a:spcPct val="110000"/>
              </a:lnSpc>
              <a:buNone/>
            </a:pPr>
            <a:r>
              <a:rPr lang="en-US" sz="1000" dirty="0">
                <a:solidFill>
                  <a:srgbClr val="9FC4D6"/>
                </a:solidFill>
                <a:latin typeface="Calibri" pitchFamily="34" charset="0"/>
                <a:ea typeface="Calibri" pitchFamily="34" charset="-122"/>
                <a:cs typeface="Calibri" pitchFamily="34" charset="-120"/>
              </a:rPr>
              <a:t>en las dos piscinas, temporada 2024</a:t>
            </a:r>
            <a:endParaRPr lang="en-US" sz="1000" dirty="0"/>
          </a:p>
        </p:txBody>
      </p:sp>
      <p:sp>
        <p:nvSpPr>
          <p:cNvPr id="8" name="Text 6"/>
          <p:cNvSpPr txBox="1"/>
          <p:nvPr/>
        </p:nvSpPr>
        <p:spPr>
          <a:xfrm>
            <a:off x="502920" y="4023360"/>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Felipe Leiva  ·  Javier Fuentes</a:t>
            </a:r>
            <a:endParaRPr lang="en-US" sz="1300" dirty="0"/>
          </a:p>
        </p:txBody>
      </p:sp>
      <p:sp>
        <p:nvSpPr>
          <p:cNvPr id="9" name="Text 7"/>
          <p:cNvSpPr txBox="1"/>
          <p:nvPr/>
        </p:nvSpPr>
        <p:spPr>
          <a:xfrm>
            <a:off x="502920" y="4315968"/>
            <a:ext cx="5029200" cy="274320"/>
          </a:xfrm>
          <a:prstGeom prst="rect">
            <a:avLst/>
          </a:prstGeom>
          <a:noFill/>
          <a:ln/>
        </p:spPr>
        <p:txBody>
          <a:bodyPr wrap="square" lIns="0" tIns="0" rIns="0" bIns="0" rtlCol="0" anchor="ctr"/>
          <a:lstStyle/>
          <a:p>
            <a:pPr indent="0" marL="0">
              <a:buNone/>
            </a:pPr>
            <a:r>
              <a:rPr lang="en-US" sz="1100" dirty="0">
                <a:solidFill>
                  <a:srgbClr val="9FC4D6"/>
                </a:solidFill>
                <a:latin typeface="Calibri" pitchFamily="34" charset="0"/>
                <a:ea typeface="Calibri" pitchFamily="34" charset="-122"/>
                <a:cs typeface="Calibri" pitchFamily="34" charset="-120"/>
              </a:rPr>
              <a:t>Martes 22 de septiembre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74320"/>
            <a:ext cx="8138160" cy="566928"/>
          </a:xfrm>
          <a:prstGeom prst="rect">
            <a:avLst/>
          </a:prstGeom>
          <a:noFill/>
          <a:ln/>
        </p:spPr>
        <p:txBody>
          <a:bodyPr wrap="square" lIns="0" tIns="0" rIns="0" bIns="0" rtlCol="0" anchor="ctr"/>
          <a:lstStyle/>
          <a:p>
            <a:pPr indent="0" marL="0">
              <a:buNone/>
            </a:pPr>
            <a:r>
              <a:rPr lang="en-US" sz="2700" b="1" dirty="0">
                <a:solidFill>
                  <a:srgbClr val="0A3D5C"/>
                </a:solidFill>
                <a:latin typeface="Cambria" pitchFamily="34" charset="0"/>
                <a:ea typeface="Cambria" pitchFamily="34" charset="-122"/>
                <a:cs typeface="Cambria" pitchFamily="34" charset="-120"/>
              </a:rPr>
              <a:t>Los datos</a:t>
            </a:r>
            <a:endParaRPr lang="en-US" sz="2700" dirty="0"/>
          </a:p>
        </p:txBody>
      </p:sp>
      <p:sp>
        <p:nvSpPr>
          <p:cNvPr id="3" name="Text 1"/>
          <p:cNvSpPr txBox="1"/>
          <p:nvPr/>
        </p:nvSpPr>
        <p:spPr>
          <a:xfrm>
            <a:off x="502920" y="850392"/>
            <a:ext cx="8138160" cy="347472"/>
          </a:xfrm>
          <a:prstGeom prst="rect">
            <a:avLst/>
          </a:prstGeom>
          <a:noFill/>
          <a:ln/>
        </p:spPr>
        <p:txBody>
          <a:bodyPr wrap="square" lIns="0" tIns="0" rIns="0" bIns="0" rtlCol="0" anchor="ctr"/>
          <a:lstStyle/>
          <a:p>
            <a:pPr indent="0" marL="0">
              <a:buNone/>
            </a:pPr>
            <a:r>
              <a:rPr lang="en-US" sz="1300" dirty="0">
                <a:solidFill>
                  <a:srgbClr val="5F7480"/>
                </a:solidFill>
                <a:latin typeface="Calibri" pitchFamily="34" charset="0"/>
                <a:ea typeface="Calibri" pitchFamily="34" charset="-122"/>
                <a:cs typeface="Calibri" pitchFamily="34" charset="-120"/>
              </a:rPr>
              <a:t>Ranking mensual de la API pública de World Aquatics, temporada 2024, más las marcas mínimas oficiales del Mundial de 25 m de Beijing 2026.</a:t>
            </a:r>
            <a:endParaRPr lang="en-US" sz="1300" dirty="0"/>
          </a:p>
        </p:txBody>
      </p:sp>
      <p:sp>
        <p:nvSpPr>
          <p:cNvPr id="4" name="Shape 2"/>
          <p:cNvSpPr/>
          <p:nvPr/>
        </p:nvSpPr>
        <p:spPr>
          <a:xfrm>
            <a:off x="502920" y="1325880"/>
            <a:ext cx="1920240" cy="896112"/>
          </a:xfrm>
          <a:prstGeom prst="roundRect">
            <a:avLst>
              <a:gd name="adj" fmla="val 6122"/>
            </a:avLst>
          </a:prstGeom>
          <a:solidFill>
            <a:srgbClr val="EDF4F8"/>
          </a:solidFill>
          <a:ln w="12700">
            <a:solidFill>
              <a:srgbClr val="EDF4F8"/>
            </a:solidFill>
            <a:prstDash val="solid"/>
          </a:ln>
        </p:spPr>
      </p:sp>
      <p:sp>
        <p:nvSpPr>
          <p:cNvPr id="5" name="Text 3"/>
          <p:cNvSpPr txBox="1"/>
          <p:nvPr/>
        </p:nvSpPr>
        <p:spPr>
          <a:xfrm>
            <a:off x="612648" y="1408176"/>
            <a:ext cx="1700784" cy="483900"/>
          </a:xfrm>
          <a:prstGeom prst="rect">
            <a:avLst/>
          </a:prstGeom>
          <a:noFill/>
          <a:ln/>
        </p:spPr>
        <p:txBody>
          <a:bodyPr wrap="square" lIns="0" tIns="0" rIns="0" bIns="0" rtlCol="0" anchor="ctr"/>
          <a:lstStyle/>
          <a:p>
            <a:pPr indent="0" marL="0">
              <a:buNone/>
            </a:pPr>
            <a:r>
              <a:rPr lang="en-US" sz="2400" b="1" dirty="0">
                <a:solidFill>
                  <a:srgbClr val="0A3D5C"/>
                </a:solidFill>
                <a:latin typeface="Cambria" pitchFamily="34" charset="0"/>
                <a:ea typeface="Cambria" pitchFamily="34" charset="-122"/>
                <a:cs typeface="Cambria" pitchFamily="34" charset="-120"/>
              </a:rPr>
              <a:t>424.528</a:t>
            </a:r>
            <a:endParaRPr lang="en-US" sz="2400" dirty="0"/>
          </a:p>
        </p:txBody>
      </p:sp>
      <p:sp>
        <p:nvSpPr>
          <p:cNvPr id="6" name="Text 4"/>
          <p:cNvSpPr txBox="1"/>
          <p:nvPr/>
        </p:nvSpPr>
        <p:spPr>
          <a:xfrm>
            <a:off x="612648" y="1836664"/>
            <a:ext cx="1700784" cy="358445"/>
          </a:xfrm>
          <a:prstGeom prst="rect">
            <a:avLst/>
          </a:prstGeom>
          <a:noFill/>
          <a:ln/>
        </p:spPr>
        <p:txBody>
          <a:bodyPr wrap="square" lIns="0" tIns="0" rIns="0" bIns="0" rtlCol="0" anchor="ctr"/>
          <a:lstStyle/>
          <a:p>
            <a:pPr indent="0" marL="0">
              <a:buNone/>
            </a:pPr>
            <a:r>
              <a:rPr lang="en-US" sz="1000" dirty="0">
                <a:solidFill>
                  <a:srgbClr val="5F7480"/>
                </a:solidFill>
                <a:latin typeface="Calibri" pitchFamily="34" charset="0"/>
                <a:ea typeface="Calibri" pitchFamily="34" charset="-122"/>
                <a:cs typeface="Calibri" pitchFamily="34" charset="-120"/>
              </a:rPr>
              <a:t>nados · 25 columnas</a:t>
            </a:r>
            <a:endParaRPr lang="en-US" sz="1000" dirty="0"/>
          </a:p>
        </p:txBody>
      </p:sp>
      <p:sp>
        <p:nvSpPr>
          <p:cNvPr id="7" name="Shape 5"/>
          <p:cNvSpPr/>
          <p:nvPr/>
        </p:nvSpPr>
        <p:spPr>
          <a:xfrm>
            <a:off x="2578608" y="1325880"/>
            <a:ext cx="1920240" cy="896112"/>
          </a:xfrm>
          <a:prstGeom prst="roundRect">
            <a:avLst>
              <a:gd name="adj" fmla="val 6122"/>
            </a:avLst>
          </a:prstGeom>
          <a:solidFill>
            <a:srgbClr val="EDF4F8"/>
          </a:solidFill>
          <a:ln w="12700">
            <a:solidFill>
              <a:srgbClr val="EDF4F8"/>
            </a:solidFill>
            <a:prstDash val="solid"/>
          </a:ln>
        </p:spPr>
      </p:sp>
      <p:sp>
        <p:nvSpPr>
          <p:cNvPr id="8" name="Text 6"/>
          <p:cNvSpPr txBox="1"/>
          <p:nvPr/>
        </p:nvSpPr>
        <p:spPr>
          <a:xfrm>
            <a:off x="2688336" y="1408176"/>
            <a:ext cx="1700784" cy="483900"/>
          </a:xfrm>
          <a:prstGeom prst="rect">
            <a:avLst/>
          </a:prstGeom>
          <a:noFill/>
          <a:ln/>
        </p:spPr>
        <p:txBody>
          <a:bodyPr wrap="square" lIns="0" tIns="0" rIns="0" bIns="0" rtlCol="0" anchor="ctr"/>
          <a:lstStyle/>
          <a:p>
            <a:pPr indent="0" marL="0">
              <a:buNone/>
            </a:pPr>
            <a:r>
              <a:rPr lang="en-US" sz="2400" b="1" dirty="0">
                <a:solidFill>
                  <a:srgbClr val="0A3D5C"/>
                </a:solidFill>
                <a:latin typeface="Cambria" pitchFamily="34" charset="0"/>
                <a:ea typeface="Cambria" pitchFamily="34" charset="-122"/>
                <a:cs typeface="Cambria" pitchFamily="34" charset="-120"/>
              </a:rPr>
              <a:t>71.514</a:t>
            </a:r>
            <a:endParaRPr lang="en-US" sz="2400" dirty="0"/>
          </a:p>
        </p:txBody>
      </p:sp>
      <p:sp>
        <p:nvSpPr>
          <p:cNvPr id="9" name="Text 7"/>
          <p:cNvSpPr txBox="1"/>
          <p:nvPr/>
        </p:nvSpPr>
        <p:spPr>
          <a:xfrm>
            <a:off x="2688336" y="1836664"/>
            <a:ext cx="1700784" cy="358445"/>
          </a:xfrm>
          <a:prstGeom prst="rect">
            <a:avLst/>
          </a:prstGeom>
          <a:noFill/>
          <a:ln/>
        </p:spPr>
        <p:txBody>
          <a:bodyPr wrap="square" lIns="0" tIns="0" rIns="0" bIns="0" rtlCol="0" anchor="ctr"/>
          <a:lstStyle/>
          <a:p>
            <a:pPr indent="0" marL="0">
              <a:buNone/>
            </a:pPr>
            <a:r>
              <a:rPr lang="en-US" sz="1000" dirty="0">
                <a:solidFill>
                  <a:srgbClr val="5F7480"/>
                </a:solidFill>
                <a:latin typeface="Calibri" pitchFamily="34" charset="0"/>
                <a:ea typeface="Calibri" pitchFamily="34" charset="-122"/>
                <a:cs typeface="Calibri" pitchFamily="34" charset="-120"/>
              </a:rPr>
              <a:t>nadadores, 215 países</a:t>
            </a:r>
            <a:endParaRPr lang="en-US" sz="1000" dirty="0"/>
          </a:p>
        </p:txBody>
      </p:sp>
      <p:sp>
        <p:nvSpPr>
          <p:cNvPr id="10" name="Shape 8"/>
          <p:cNvSpPr/>
          <p:nvPr/>
        </p:nvSpPr>
        <p:spPr>
          <a:xfrm>
            <a:off x="4654296" y="1325880"/>
            <a:ext cx="1920240" cy="896112"/>
          </a:xfrm>
          <a:prstGeom prst="roundRect">
            <a:avLst>
              <a:gd name="adj" fmla="val 6122"/>
            </a:avLst>
          </a:prstGeom>
          <a:solidFill>
            <a:srgbClr val="EDF4F8"/>
          </a:solidFill>
          <a:ln w="12700">
            <a:solidFill>
              <a:srgbClr val="EDF4F8"/>
            </a:solidFill>
            <a:prstDash val="solid"/>
          </a:ln>
        </p:spPr>
      </p:sp>
      <p:sp>
        <p:nvSpPr>
          <p:cNvPr id="11" name="Text 9"/>
          <p:cNvSpPr txBox="1"/>
          <p:nvPr/>
        </p:nvSpPr>
        <p:spPr>
          <a:xfrm>
            <a:off x="4764024" y="1408176"/>
            <a:ext cx="1700784" cy="483900"/>
          </a:xfrm>
          <a:prstGeom prst="rect">
            <a:avLst/>
          </a:prstGeom>
          <a:noFill/>
          <a:ln/>
        </p:spPr>
        <p:txBody>
          <a:bodyPr wrap="square" lIns="0" tIns="0" rIns="0" bIns="0" rtlCol="0" anchor="ctr"/>
          <a:lstStyle/>
          <a:p>
            <a:pPr indent="0" marL="0">
              <a:buNone/>
            </a:pPr>
            <a:r>
              <a:rPr lang="en-US" sz="2400" b="1" dirty="0">
                <a:solidFill>
                  <a:srgbClr val="D55E00"/>
                </a:solidFill>
                <a:latin typeface="Cambria" pitchFamily="34" charset="0"/>
                <a:ea typeface="Cambria" pitchFamily="34" charset="-122"/>
                <a:cs typeface="Cambria" pitchFamily="34" charset="-120"/>
              </a:rPr>
              <a:t>43.914</a:t>
            </a:r>
            <a:endParaRPr lang="en-US" sz="2400" dirty="0"/>
          </a:p>
        </p:txBody>
      </p:sp>
      <p:sp>
        <p:nvSpPr>
          <p:cNvPr id="12" name="Text 10"/>
          <p:cNvSpPr txBox="1"/>
          <p:nvPr/>
        </p:nvSpPr>
        <p:spPr>
          <a:xfrm>
            <a:off x="4764024" y="1836664"/>
            <a:ext cx="1700784" cy="358445"/>
          </a:xfrm>
          <a:prstGeom prst="rect">
            <a:avLst/>
          </a:prstGeom>
          <a:noFill/>
          <a:ln/>
        </p:spPr>
        <p:txBody>
          <a:bodyPr wrap="square" lIns="0" tIns="0" rIns="0" bIns="0" rtlCol="0" anchor="ctr"/>
          <a:lstStyle/>
          <a:p>
            <a:pPr indent="0" marL="0">
              <a:buNone/>
            </a:pPr>
            <a:r>
              <a:rPr lang="en-US" sz="1000" dirty="0">
                <a:solidFill>
                  <a:srgbClr val="5F7480"/>
                </a:solidFill>
                <a:latin typeface="Calibri" pitchFamily="34" charset="0"/>
                <a:ea typeface="Calibri" pitchFamily="34" charset="-122"/>
                <a:cs typeface="Calibri" pitchFamily="34" charset="-120"/>
              </a:rPr>
              <a:t>pares 25 m ↔ 50 m</a:t>
            </a:r>
            <a:endParaRPr lang="en-US" sz="1000" dirty="0"/>
          </a:p>
        </p:txBody>
      </p:sp>
      <p:sp>
        <p:nvSpPr>
          <p:cNvPr id="13" name="Shape 11"/>
          <p:cNvSpPr/>
          <p:nvPr/>
        </p:nvSpPr>
        <p:spPr>
          <a:xfrm>
            <a:off x="6729984" y="1325880"/>
            <a:ext cx="1920240" cy="896112"/>
          </a:xfrm>
          <a:prstGeom prst="roundRect">
            <a:avLst>
              <a:gd name="adj" fmla="val 6122"/>
            </a:avLst>
          </a:prstGeom>
          <a:solidFill>
            <a:srgbClr val="EDF4F8"/>
          </a:solidFill>
          <a:ln w="12700">
            <a:solidFill>
              <a:srgbClr val="EDF4F8"/>
            </a:solidFill>
            <a:prstDash val="solid"/>
          </a:ln>
        </p:spPr>
      </p:sp>
      <p:sp>
        <p:nvSpPr>
          <p:cNvPr id="14" name="Text 12"/>
          <p:cNvSpPr txBox="1"/>
          <p:nvPr/>
        </p:nvSpPr>
        <p:spPr>
          <a:xfrm>
            <a:off x="6839712" y="1408176"/>
            <a:ext cx="1700784" cy="483900"/>
          </a:xfrm>
          <a:prstGeom prst="rect">
            <a:avLst/>
          </a:prstGeom>
          <a:noFill/>
          <a:ln/>
        </p:spPr>
        <p:txBody>
          <a:bodyPr wrap="square" lIns="0" tIns="0" rIns="0" bIns="0" rtlCol="0" anchor="ctr"/>
          <a:lstStyle/>
          <a:p>
            <a:pPr indent="0" marL="0">
              <a:buNone/>
            </a:pPr>
            <a:r>
              <a:rPr lang="en-US" sz="2400" b="1" dirty="0">
                <a:solidFill>
                  <a:srgbClr val="0A3D5C"/>
                </a:solidFill>
                <a:latin typeface="Cambria" pitchFamily="34" charset="0"/>
                <a:ea typeface="Cambria" pitchFamily="34" charset="-122"/>
                <a:cs typeface="Cambria" pitchFamily="34" charset="-120"/>
              </a:rPr>
              <a:t>570</a:t>
            </a:r>
            <a:endParaRPr lang="en-US" sz="2400" dirty="0"/>
          </a:p>
        </p:txBody>
      </p:sp>
      <p:sp>
        <p:nvSpPr>
          <p:cNvPr id="15" name="Text 13"/>
          <p:cNvSpPr txBox="1"/>
          <p:nvPr/>
        </p:nvSpPr>
        <p:spPr>
          <a:xfrm>
            <a:off x="6839712" y="1836664"/>
            <a:ext cx="1700784" cy="358445"/>
          </a:xfrm>
          <a:prstGeom prst="rect">
            <a:avLst/>
          </a:prstGeom>
          <a:noFill/>
          <a:ln/>
        </p:spPr>
        <p:txBody>
          <a:bodyPr wrap="square" lIns="0" tIns="0" rIns="0" bIns="0" rtlCol="0" anchor="ctr"/>
          <a:lstStyle/>
          <a:p>
            <a:pPr indent="0" marL="0">
              <a:buNone/>
            </a:pPr>
            <a:r>
              <a:rPr lang="en-US" sz="1000" dirty="0">
                <a:solidFill>
                  <a:srgbClr val="5F7480"/>
                </a:solidFill>
                <a:latin typeface="Calibri" pitchFamily="34" charset="0"/>
                <a:ea typeface="Calibri" pitchFamily="34" charset="-122"/>
                <a:cs typeface="Calibri" pitchFamily="34" charset="-120"/>
              </a:rPr>
              <a:t>pares en la prueba más chica</a:t>
            </a:r>
            <a:endParaRPr lang="en-US" sz="1000" dirty="0"/>
          </a:p>
        </p:txBody>
      </p:sp>
      <p:sp>
        <p:nvSpPr>
          <p:cNvPr id="16" name="Shape 14"/>
          <p:cNvSpPr/>
          <p:nvPr/>
        </p:nvSpPr>
        <p:spPr>
          <a:xfrm>
            <a:off x="502920" y="2450592"/>
            <a:ext cx="3977640" cy="1874520"/>
          </a:xfrm>
          <a:prstGeom prst="roundRect">
            <a:avLst>
              <a:gd name="adj" fmla="val 2439"/>
            </a:avLst>
          </a:prstGeom>
          <a:solidFill>
            <a:srgbClr val="EDF4F8"/>
          </a:solidFill>
          <a:ln w="12700">
            <a:solidFill>
              <a:srgbClr val="EDF4F8"/>
            </a:solidFill>
            <a:prstDash val="solid"/>
          </a:ln>
        </p:spPr>
      </p:sp>
      <p:sp>
        <p:nvSpPr>
          <p:cNvPr id="17" name="Text 15"/>
          <p:cNvSpPr txBox="1"/>
          <p:nvPr/>
        </p:nvSpPr>
        <p:spPr>
          <a:xfrm>
            <a:off x="685800" y="2560320"/>
            <a:ext cx="3611880" cy="256032"/>
          </a:xfrm>
          <a:prstGeom prst="rect">
            <a:avLst/>
          </a:prstGeom>
          <a:noFill/>
          <a:ln/>
        </p:spPr>
        <p:txBody>
          <a:bodyPr wrap="square" lIns="0" tIns="0" rIns="0" bIns="0" rtlCol="0" anchor="ctr"/>
          <a:lstStyle/>
          <a:p>
            <a:pPr indent="0" marL="0">
              <a:buNone/>
            </a:pPr>
            <a:r>
              <a:rPr lang="en-US" sz="1400" b="1" dirty="0">
                <a:solidFill>
                  <a:srgbClr val="0A3D5C"/>
                </a:solidFill>
                <a:latin typeface="Cambria" pitchFamily="34" charset="0"/>
                <a:ea typeface="Cambria" pitchFamily="34" charset="-122"/>
                <a:cs typeface="Cambria" pitchFamily="34" charset="-120"/>
              </a:rPr>
              <a:t>Cada nadador contra sí mismo</a:t>
            </a:r>
            <a:endParaRPr lang="en-US" sz="1400" dirty="0"/>
          </a:p>
        </p:txBody>
      </p:sp>
      <p:sp>
        <p:nvSpPr>
          <p:cNvPr id="18" name="Text 16"/>
          <p:cNvSpPr txBox="1"/>
          <p:nvPr/>
        </p:nvSpPr>
        <p:spPr>
          <a:xfrm>
            <a:off x="685800" y="2852928"/>
            <a:ext cx="3611880" cy="1371600"/>
          </a:xfrm>
          <a:prstGeom prst="rect">
            <a:avLst/>
          </a:prstGeom>
          <a:noFill/>
          <a:ln/>
        </p:spPr>
        <p:txBody>
          <a:bodyPr wrap="square" lIns="0" tIns="0" rIns="0" bIns="0" rtlCol="0" anchor="t"/>
          <a:lstStyle/>
          <a:p>
            <a:pPr indent="0" marL="0">
              <a:lnSpc>
                <a:spcPct val="112000"/>
              </a:lnSpc>
              <a:buNone/>
            </a:pPr>
            <a:r>
              <a:rPr lang="en-US" sz="1050" b="1" dirty="0">
                <a:solidFill>
                  <a:srgbClr val="0072B2"/>
                </a:solidFill>
                <a:latin typeface="Calibri" pitchFamily="34" charset="0"/>
                <a:ea typeface="Calibri" pitchFamily="34" charset="-122"/>
                <a:cs typeface="Calibri" pitchFamily="34" charset="-120"/>
              </a:rPr>
              <a:t>factor = tiempo en 50 m / tiempo en 25 m</a:t>
            </a:r>
            <a:endParaRPr lang="en-US" sz="1050" dirty="0"/>
          </a:p>
          <a:p>
            <a:pPr indent="0" marL="0">
              <a:lnSpc>
                <a:spcPct val="112000"/>
              </a:lnSpc>
              <a:buNone/>
            </a:pPr>
            <a:r>
              <a:rPr lang="en-US" sz="1050" dirty="0">
                <a:solidFill>
                  <a:srgbClr val="16303D"/>
                </a:solidFill>
                <a:latin typeface="Calibri" pitchFamily="34" charset="0"/>
                <a:ea typeface="Calibri" pitchFamily="34" charset="-122"/>
                <a:cs typeface="Calibri" pitchFamily="34" charset="-120"/>
              </a:rPr>
              <a:t>Comparamos la mejor marca del año de un nadador con la suya propia en la otra piscina, misma prueba y misma temporada. Eso deja fuera el talento, la edad y el entrenamiento sin tener que controlarlos. Es la mejor marca porque una mínima se cumple con un solo nado.</a:t>
            </a:r>
            <a:endParaRPr lang="en-US" sz="1050" dirty="0"/>
          </a:p>
        </p:txBody>
      </p:sp>
      <p:sp>
        <p:nvSpPr>
          <p:cNvPr id="19" name="Shape 17"/>
          <p:cNvSpPr/>
          <p:nvPr/>
        </p:nvSpPr>
        <p:spPr>
          <a:xfrm>
            <a:off x="4663440" y="2450592"/>
            <a:ext cx="3977640" cy="1874520"/>
          </a:xfrm>
          <a:prstGeom prst="roundRect">
            <a:avLst>
              <a:gd name="adj" fmla="val 2439"/>
            </a:avLst>
          </a:prstGeom>
          <a:solidFill>
            <a:srgbClr val="EDF4F8"/>
          </a:solidFill>
          <a:ln w="12700">
            <a:solidFill>
              <a:srgbClr val="EDF4F8"/>
            </a:solidFill>
            <a:prstDash val="solid"/>
          </a:ln>
        </p:spPr>
      </p:sp>
      <p:sp>
        <p:nvSpPr>
          <p:cNvPr id="20" name="Text 18"/>
          <p:cNvSpPr txBox="1"/>
          <p:nvPr/>
        </p:nvSpPr>
        <p:spPr>
          <a:xfrm>
            <a:off x="4846320" y="2560320"/>
            <a:ext cx="3611880" cy="256032"/>
          </a:xfrm>
          <a:prstGeom prst="rect">
            <a:avLst/>
          </a:prstGeom>
          <a:noFill/>
          <a:ln/>
        </p:spPr>
        <p:txBody>
          <a:bodyPr wrap="square" lIns="0" tIns="0" rIns="0" bIns="0" rtlCol="0" anchor="ctr"/>
          <a:lstStyle/>
          <a:p>
            <a:pPr indent="0" marL="0">
              <a:buNone/>
            </a:pPr>
            <a:r>
              <a:rPr lang="en-US" sz="1400" b="1" dirty="0">
                <a:solidFill>
                  <a:srgbClr val="0A3D5C"/>
                </a:solidFill>
                <a:latin typeface="Cambria" pitchFamily="34" charset="0"/>
                <a:ea typeface="Cambria" pitchFamily="34" charset="-122"/>
                <a:cs typeface="Cambria" pitchFamily="34" charset="-120"/>
              </a:rPr>
              <a:t>Lo que encontramos al limpiar</a:t>
            </a:r>
            <a:endParaRPr lang="en-US" sz="1400" dirty="0"/>
          </a:p>
        </p:txBody>
      </p:sp>
      <p:sp>
        <p:nvSpPr>
          <p:cNvPr id="21" name="Text 19"/>
          <p:cNvSpPr txBox="1"/>
          <p:nvPr/>
        </p:nvSpPr>
        <p:spPr>
          <a:xfrm>
            <a:off x="4846320" y="2852928"/>
            <a:ext cx="3611880" cy="347472"/>
          </a:xfrm>
          <a:prstGeom prst="rect">
            <a:avLst/>
          </a:prstGeom>
          <a:noFill/>
          <a:ln/>
        </p:spPr>
        <p:txBody>
          <a:bodyPr wrap="square" lIns="0" tIns="0" rIns="0" bIns="0" rtlCol="0" anchor="t"/>
          <a:lstStyle/>
          <a:p>
            <a:pPr indent="0" marL="0">
              <a:lnSpc>
                <a:spcPct val="105000"/>
              </a:lnSpc>
              <a:buNone/>
            </a:pPr>
            <a:r>
              <a:rPr lang="en-US" sz="960" b="1" dirty="0">
                <a:solidFill>
                  <a:srgbClr val="16303D"/>
                </a:solidFill>
                <a:latin typeface="Calibri" pitchFamily="34" charset="0"/>
                <a:ea typeface="Calibri" pitchFamily="34" charset="-122"/>
                <a:cs typeface="Calibri" pitchFamily="34" charset="-120"/>
              </a:rPr>
              <a:t>Un club llamado “No”  </a:t>
            </a:r>
            <a:pPr indent="0" marL="0">
              <a:lnSpc>
                <a:spcPct val="105000"/>
              </a:lnSpc>
              <a:buNone/>
            </a:pPr>
            <a:r>
              <a:rPr lang="en-US" sz="960" dirty="0">
                <a:solidFill>
                  <a:srgbClr val="5F7480"/>
                </a:solidFill>
                <a:latin typeface="Calibri" pitchFamily="34" charset="0"/>
                <a:ea typeface="Calibri" pitchFamily="34" charset="-122"/>
                <a:cs typeface="Calibri" pitchFamily="34" charset="-120"/>
              </a:rPr>
              <a:t>centinela de la API en 18,2% de las filas → nulo</a:t>
            </a:r>
            <a:endParaRPr lang="en-US" sz="960" dirty="0"/>
          </a:p>
        </p:txBody>
      </p:sp>
      <p:sp>
        <p:nvSpPr>
          <p:cNvPr id="22" name="Text 20"/>
          <p:cNvSpPr txBox="1"/>
          <p:nvPr/>
        </p:nvSpPr>
        <p:spPr>
          <a:xfrm>
            <a:off x="4846320" y="3218688"/>
            <a:ext cx="3611880" cy="347472"/>
          </a:xfrm>
          <a:prstGeom prst="rect">
            <a:avLst/>
          </a:prstGeom>
          <a:noFill/>
          <a:ln/>
        </p:spPr>
        <p:txBody>
          <a:bodyPr wrap="square" lIns="0" tIns="0" rIns="0" bIns="0" rtlCol="0" anchor="t"/>
          <a:lstStyle/>
          <a:p>
            <a:pPr indent="0" marL="0">
              <a:lnSpc>
                <a:spcPct val="105000"/>
              </a:lnSpc>
              <a:buNone/>
            </a:pPr>
            <a:r>
              <a:rPr lang="en-US" sz="960" b="1" dirty="0">
                <a:solidFill>
                  <a:srgbClr val="16303D"/>
                </a:solidFill>
                <a:latin typeface="Calibri" pitchFamily="34" charset="0"/>
                <a:ea typeface="Calibri" pitchFamily="34" charset="-122"/>
                <a:cs typeface="Calibri" pitchFamily="34" charset="-120"/>
              </a:rPr>
              <a:t>389 edades imposibles  </a:t>
            </a:r>
            <a:pPr indent="0" marL="0">
              <a:lnSpc>
                <a:spcPct val="105000"/>
              </a:lnSpc>
              <a:buNone/>
            </a:pPr>
            <a:r>
              <a:rPr lang="en-US" sz="960" dirty="0">
                <a:solidFill>
                  <a:srgbClr val="5F7480"/>
                </a:solidFill>
                <a:latin typeface="Calibri" pitchFamily="34" charset="0"/>
                <a:ea typeface="Calibri" pitchFamily="34" charset="-122"/>
                <a:cs typeface="Calibri" pitchFamily="34" charset="-120"/>
              </a:rPr>
              <a:t>de 4 a 119 años; el ranking mensual mezcla torneos juveniles → nulo</a:t>
            </a:r>
            <a:endParaRPr lang="en-US" sz="960" dirty="0"/>
          </a:p>
        </p:txBody>
      </p:sp>
      <p:sp>
        <p:nvSpPr>
          <p:cNvPr id="23" name="Text 21"/>
          <p:cNvSpPr txBox="1"/>
          <p:nvPr/>
        </p:nvSpPr>
        <p:spPr>
          <a:xfrm>
            <a:off x="4846320" y="3584448"/>
            <a:ext cx="3611880" cy="347472"/>
          </a:xfrm>
          <a:prstGeom prst="rect">
            <a:avLst/>
          </a:prstGeom>
          <a:noFill/>
          <a:ln/>
        </p:spPr>
        <p:txBody>
          <a:bodyPr wrap="square" lIns="0" tIns="0" rIns="0" bIns="0" rtlCol="0" anchor="t"/>
          <a:lstStyle/>
          <a:p>
            <a:pPr indent="0" marL="0">
              <a:lnSpc>
                <a:spcPct val="105000"/>
              </a:lnSpc>
              <a:buNone/>
            </a:pPr>
            <a:r>
              <a:rPr lang="en-US" sz="960" b="1" dirty="0">
                <a:solidFill>
                  <a:srgbClr val="16303D"/>
                </a:solidFill>
                <a:latin typeface="Calibri" pitchFamily="34" charset="0"/>
                <a:ea typeface="Calibri" pitchFamily="34" charset="-122"/>
                <a:cs typeface="Calibri" pitchFamily="34" charset="-120"/>
              </a:rPr>
              <a:t>Un nadador, varios registros  </a:t>
            </a:r>
            <a:pPr indent="0" marL="0">
              <a:lnSpc>
                <a:spcPct val="105000"/>
              </a:lnSpc>
              <a:buNone/>
            </a:pPr>
            <a:r>
              <a:rPr lang="en-US" sz="960" dirty="0">
                <a:solidFill>
                  <a:srgbClr val="5F7480"/>
                </a:solidFill>
                <a:latin typeface="Calibri" pitchFamily="34" charset="0"/>
                <a:ea typeface="Calibri" pitchFamily="34" charset="-122"/>
                <a:cs typeface="Calibri" pitchFamily="34" charset="-120"/>
              </a:rPr>
              <a:t>es lo esperable con ranking mensual → se conserva su mejor marca</a:t>
            </a:r>
            <a:endParaRPr lang="en-US" sz="960" dirty="0"/>
          </a:p>
        </p:txBody>
      </p:sp>
      <p:sp>
        <p:nvSpPr>
          <p:cNvPr id="24" name="Text 22"/>
          <p:cNvSpPr txBox="1"/>
          <p:nvPr/>
        </p:nvSpPr>
        <p:spPr>
          <a:xfrm>
            <a:off x="4846320" y="3950208"/>
            <a:ext cx="3611880" cy="347472"/>
          </a:xfrm>
          <a:prstGeom prst="rect">
            <a:avLst/>
          </a:prstGeom>
          <a:noFill/>
          <a:ln/>
        </p:spPr>
        <p:txBody>
          <a:bodyPr wrap="square" lIns="0" tIns="0" rIns="0" bIns="0" rtlCol="0" anchor="t"/>
          <a:lstStyle/>
          <a:p>
            <a:pPr indent="0" marL="0">
              <a:lnSpc>
                <a:spcPct val="105000"/>
              </a:lnSpc>
              <a:buNone/>
            </a:pPr>
            <a:r>
              <a:rPr lang="en-US" sz="960" b="1" dirty="0">
                <a:solidFill>
                  <a:srgbClr val="16303D"/>
                </a:solidFill>
                <a:latin typeface="Calibri" pitchFamily="34" charset="0"/>
                <a:ea typeface="Calibri" pitchFamily="34" charset="-122"/>
                <a:cs typeface="Calibri" pitchFamily="34" charset="-120"/>
              </a:rPr>
              <a:t>13,5% de pares al revés  </a:t>
            </a:r>
            <a:pPr indent="0" marL="0">
              <a:lnSpc>
                <a:spcPct val="105000"/>
              </a:lnSpc>
              <a:buNone/>
            </a:pPr>
            <a:r>
              <a:rPr lang="en-US" sz="960" dirty="0">
                <a:solidFill>
                  <a:srgbClr val="5F7480"/>
                </a:solidFill>
                <a:latin typeface="Calibri" pitchFamily="34" charset="0"/>
                <a:ea typeface="Calibri" pitchFamily="34" charset="-122"/>
                <a:cs typeface="Calibri" pitchFamily="34" charset="-120"/>
              </a:rPr>
              <a:t>temporadas distintas, no errores → se conservan</a:t>
            </a:r>
            <a:endParaRPr lang="en-US" sz="960" dirty="0"/>
          </a:p>
        </p:txBody>
      </p:sp>
      <p:sp>
        <p:nvSpPr>
          <p:cNvPr id="25" name="Text 23"/>
          <p:cNvSpPr txBox="1"/>
          <p:nvPr/>
        </p:nvSpPr>
        <p:spPr>
          <a:xfrm>
            <a:off x="502920" y="4443984"/>
            <a:ext cx="8138160" cy="274320"/>
          </a:xfrm>
          <a:prstGeom prst="rect">
            <a:avLst/>
          </a:prstGeom>
          <a:noFill/>
          <a:ln/>
        </p:spPr>
        <p:txBody>
          <a:bodyPr wrap="square" lIns="0" tIns="0" rIns="0" bIns="0" rtlCol="0" anchor="ctr"/>
          <a:lstStyle/>
          <a:p>
            <a:pPr indent="0" marL="0">
              <a:buNone/>
            </a:pPr>
            <a:r>
              <a:rPr lang="en-US" sz="850" dirty="0">
                <a:solidFill>
                  <a:srgbClr val="5F7480"/>
                </a:solidFill>
                <a:latin typeface="Calibri" pitchFamily="34" charset="0"/>
                <a:ea typeface="Calibri" pitchFamily="34" charset="-122"/>
                <a:cs typeface="Calibri" pitchFamily="34" charset="-120"/>
              </a:rPr>
              <a:t>Fuente: api.worldaquatics.com · Beijing 2026 (resources.fina.org). Uso académico, con pausa entre peticiones y caché; no se redistribuyen los datos crudos.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74320"/>
            <a:ext cx="8138160" cy="566928"/>
          </a:xfrm>
          <a:prstGeom prst="rect">
            <a:avLst/>
          </a:prstGeom>
          <a:noFill/>
          <a:ln/>
        </p:spPr>
        <p:txBody>
          <a:bodyPr wrap="square" lIns="0" tIns="0" rIns="0" bIns="0" rtlCol="0" anchor="ctr"/>
          <a:lstStyle/>
          <a:p>
            <a:pPr indent="0" marL="0">
              <a:buNone/>
            </a:pPr>
            <a:r>
              <a:rPr lang="en-US" sz="2700" b="1" dirty="0">
                <a:solidFill>
                  <a:srgbClr val="0A3D5C"/>
                </a:solidFill>
                <a:latin typeface="Cambria" pitchFamily="34" charset="0"/>
                <a:ea typeface="Cambria" pitchFamily="34" charset="-122"/>
                <a:cs typeface="Cambria" pitchFamily="34" charset="-120"/>
              </a:rPr>
              <a:t>El factor no es una constante</a:t>
            </a:r>
            <a:endParaRPr lang="en-US" sz="2700" dirty="0"/>
          </a:p>
        </p:txBody>
      </p:sp>
      <p:sp>
        <p:nvSpPr>
          <p:cNvPr id="3" name="Text 1"/>
          <p:cNvSpPr txBox="1"/>
          <p:nvPr/>
        </p:nvSpPr>
        <p:spPr>
          <a:xfrm>
            <a:off x="502920" y="850392"/>
            <a:ext cx="8138160" cy="347472"/>
          </a:xfrm>
          <a:prstGeom prst="rect">
            <a:avLst/>
          </a:prstGeom>
          <a:noFill/>
          <a:ln/>
        </p:spPr>
        <p:txBody>
          <a:bodyPr wrap="square" lIns="0" tIns="0" rIns="0" bIns="0" rtlCol="0" anchor="ctr"/>
          <a:lstStyle/>
          <a:p>
            <a:pPr indent="0" marL="0">
              <a:buNone/>
            </a:pPr>
            <a:r>
              <a:rPr lang="en-US" sz="1300" dirty="0">
                <a:solidFill>
                  <a:srgbClr val="5F7480"/>
                </a:solidFill>
                <a:latin typeface="Calibri" pitchFamily="34" charset="0"/>
                <a:ea typeface="Calibri" pitchFamily="34" charset="-122"/>
                <a:cs typeface="Calibri" pitchFamily="34" charset="-120"/>
              </a:rPr>
              <a:t>Segundos que gana un nadador por cada vuelta extra: la mediana de cada prueba, con los dos sexos por separado.</a:t>
            </a:r>
            <a:endParaRPr lang="en-US" sz="1300" dirty="0"/>
          </a:p>
        </p:txBody>
      </p:sp>
      <p:pic>
        <p:nvPicPr>
          <p:cNvPr id="4" name="Image 0" descr="/mnt/user-data/uploads/diplomado-cdd/capstone/figuras_eda/4-4_lineas_hipotesis.png">    </p:cNvPr>
          <p:cNvPicPr>
            <a:picLocks noChangeAspect="1"/>
          </p:cNvPicPr>
          <p:nvPr/>
        </p:nvPicPr>
        <p:blipFill>
          <a:blip r:embed="rId1"/>
          <a:stretch>
            <a:fillRect/>
          </a:stretch>
        </p:blipFill>
        <p:spPr>
          <a:xfrm>
            <a:off x="566928" y="1261872"/>
            <a:ext cx="7498080" cy="3127248"/>
          </a:xfrm>
          <a:prstGeom prst="rect">
            <a:avLst/>
          </a:prstGeom>
        </p:spPr>
      </p:pic>
      <p:sp>
        <p:nvSpPr>
          <p:cNvPr id="5" name="Text 2"/>
          <p:cNvSpPr txBox="1"/>
          <p:nvPr/>
        </p:nvSpPr>
        <p:spPr>
          <a:xfrm>
            <a:off x="566928" y="4425696"/>
            <a:ext cx="8046720" cy="457200"/>
          </a:xfrm>
          <a:prstGeom prst="rect">
            <a:avLst/>
          </a:prstGeom>
          <a:noFill/>
          <a:ln/>
        </p:spPr>
        <p:txBody>
          <a:bodyPr wrap="square" lIns="0" tIns="0" rIns="0" bIns="0" rtlCol="0" anchor="t"/>
          <a:lstStyle/>
          <a:p>
            <a:pPr indent="0" marL="0">
              <a:buNone/>
            </a:pPr>
            <a:r>
              <a:rPr lang="en-US" sz="1100" b="1" dirty="0">
                <a:solidFill>
                  <a:srgbClr val="0A3D5C"/>
                </a:solidFill>
                <a:latin typeface="Calibri" pitchFamily="34" charset="0"/>
                <a:ea typeface="Calibri" pitchFamily="34" charset="-122"/>
                <a:cs typeface="Calibri" pitchFamily="34" charset="-120"/>
              </a:rPr>
              <a:t>Mariposa &lt; Libre &lt; Combinado &lt; Pecho &lt; Espalda</a:t>
            </a:r>
            <a:pPr indent="0" marL="0">
              <a:buNone/>
            </a:pPr>
            <a:r>
              <a:rPr lang="en-US" sz="1100" dirty="0">
                <a:solidFill>
                  <a:srgbClr val="5F7480"/>
                </a:solidFill>
                <a:latin typeface="Calibri" pitchFamily="34" charset="0"/>
                <a:ea typeface="Calibri" pitchFamily="34" charset="-122"/>
                <a:cs typeface="Calibri" pitchFamily="34" charset="-120"/>
              </a:rPr>
              <a:t>   ·   el mismo orden en los dos paneles. El factor va de 1,0181 a 1,0521 según la prueba, y los intervalos del 95% de esos dos extremos —[1,0167–1,0195] y [1,0504–1,0537]— ni se acercan.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74320"/>
            <a:ext cx="8138160" cy="566928"/>
          </a:xfrm>
          <a:prstGeom prst="rect">
            <a:avLst/>
          </a:prstGeom>
          <a:noFill/>
          <a:ln/>
        </p:spPr>
        <p:txBody>
          <a:bodyPr wrap="square" lIns="0" tIns="0" rIns="0" bIns="0" rtlCol="0" anchor="ctr"/>
          <a:lstStyle/>
          <a:p>
            <a:pPr indent="0" marL="0">
              <a:buNone/>
            </a:pPr>
            <a:r>
              <a:rPr lang="en-US" sz="2700" b="1" dirty="0">
                <a:solidFill>
                  <a:srgbClr val="0A3D5C"/>
                </a:solidFill>
                <a:latin typeface="Cambria" pitchFamily="34" charset="0"/>
                <a:ea typeface="Cambria" pitchFamily="34" charset="-122"/>
                <a:cs typeface="Cambria" pitchFamily="34" charset="-120"/>
              </a:rPr>
              <a:t>Los hombres ganan más con la piscina corta</a:t>
            </a:r>
            <a:endParaRPr lang="en-US" sz="2700" dirty="0"/>
          </a:p>
        </p:txBody>
      </p:sp>
      <p:sp>
        <p:nvSpPr>
          <p:cNvPr id="3" name="Text 1"/>
          <p:cNvSpPr txBox="1"/>
          <p:nvPr/>
        </p:nvSpPr>
        <p:spPr>
          <a:xfrm>
            <a:off x="502920" y="850392"/>
            <a:ext cx="8138160" cy="347472"/>
          </a:xfrm>
          <a:prstGeom prst="rect">
            <a:avLst/>
          </a:prstGeom>
          <a:noFill/>
          <a:ln/>
        </p:spPr>
        <p:txBody>
          <a:bodyPr wrap="square" lIns="0" tIns="0" rIns="0" bIns="0" rtlCol="0" anchor="ctr"/>
          <a:lstStyle/>
          <a:p>
            <a:pPr indent="0" marL="0">
              <a:buNone/>
            </a:pPr>
            <a:r>
              <a:rPr lang="en-US" sz="1300" dirty="0">
                <a:solidFill>
                  <a:srgbClr val="5F7480"/>
                </a:solidFill>
                <a:latin typeface="Calibri" pitchFamily="34" charset="0"/>
                <a:ea typeface="Calibri" pitchFamily="34" charset="-122"/>
                <a:cs typeface="Calibri" pitchFamily="34" charset="-120"/>
              </a:rPr>
              <a:t>Y lo hacen en las doce pruebas comparables, sin una sola excepción.</a:t>
            </a:r>
            <a:endParaRPr lang="en-US" sz="1300" dirty="0"/>
          </a:p>
        </p:txBody>
      </p:sp>
      <p:pic>
        <p:nvPicPr>
          <p:cNvPr id="4" name="Image 0" descr="/mnt/user-data/uploads/diplomado-cdd/capstone/figuras_eda/4-1_histograma_factor.png">    </p:cNvPr>
          <p:cNvPicPr>
            <a:picLocks noChangeAspect="1"/>
          </p:cNvPicPr>
          <p:nvPr/>
        </p:nvPicPr>
        <p:blipFill>
          <a:blip r:embed="rId1"/>
          <a:stretch>
            <a:fillRect/>
          </a:stretch>
        </p:blipFill>
        <p:spPr>
          <a:xfrm>
            <a:off x="457200" y="1417320"/>
            <a:ext cx="5440680" cy="2450592"/>
          </a:xfrm>
          <a:prstGeom prst="rect">
            <a:avLst/>
          </a:prstGeom>
        </p:spPr>
      </p:pic>
      <p:sp>
        <p:nvSpPr>
          <p:cNvPr id="5" name="Shape 2"/>
          <p:cNvSpPr/>
          <p:nvPr/>
        </p:nvSpPr>
        <p:spPr>
          <a:xfrm>
            <a:off x="6053328" y="1298448"/>
            <a:ext cx="2633472" cy="3063240"/>
          </a:xfrm>
          <a:prstGeom prst="roundRect">
            <a:avLst>
              <a:gd name="adj" fmla="val 1736"/>
            </a:avLst>
          </a:prstGeom>
          <a:solidFill>
            <a:srgbClr val="EDF4F8"/>
          </a:solidFill>
          <a:ln w="12700">
            <a:solidFill>
              <a:srgbClr val="EDF4F8"/>
            </a:solidFill>
            <a:prstDash val="solid"/>
          </a:ln>
        </p:spPr>
      </p:sp>
      <p:sp>
        <p:nvSpPr>
          <p:cNvPr id="6" name="Text 3"/>
          <p:cNvSpPr txBox="1"/>
          <p:nvPr/>
        </p:nvSpPr>
        <p:spPr>
          <a:xfrm>
            <a:off x="6217920" y="1408176"/>
            <a:ext cx="2331720" cy="402336"/>
          </a:xfrm>
          <a:prstGeom prst="rect">
            <a:avLst/>
          </a:prstGeom>
          <a:noFill/>
          <a:ln/>
        </p:spPr>
        <p:txBody>
          <a:bodyPr wrap="square" lIns="0" tIns="0" rIns="0" bIns="0" rtlCol="0" anchor="ctr"/>
          <a:lstStyle/>
          <a:p>
            <a:pPr indent="0" marL="0">
              <a:buNone/>
            </a:pPr>
            <a:r>
              <a:rPr lang="en-US" sz="2500" b="1" dirty="0">
                <a:solidFill>
                  <a:srgbClr val="D55E00"/>
                </a:solidFill>
                <a:latin typeface="Cambria" pitchFamily="34" charset="0"/>
                <a:ea typeface="Cambria" pitchFamily="34" charset="-122"/>
                <a:cs typeface="Cambria" pitchFamily="34" charset="-120"/>
              </a:rPr>
              <a:t>12 de 12</a:t>
            </a:r>
            <a:endParaRPr lang="en-US" sz="2500" dirty="0"/>
          </a:p>
        </p:txBody>
      </p:sp>
      <p:sp>
        <p:nvSpPr>
          <p:cNvPr id="7" name="Text 4"/>
          <p:cNvSpPr txBox="1"/>
          <p:nvPr/>
        </p:nvSpPr>
        <p:spPr>
          <a:xfrm>
            <a:off x="6217920" y="1810512"/>
            <a:ext cx="2331720" cy="640080"/>
          </a:xfrm>
          <a:prstGeom prst="rect">
            <a:avLst/>
          </a:prstGeom>
          <a:noFill/>
          <a:ln/>
        </p:spPr>
        <p:txBody>
          <a:bodyPr wrap="square" lIns="0" tIns="0" rIns="0" bIns="0" rtlCol="0" anchor="ctr"/>
          <a:lstStyle/>
          <a:p>
            <a:pPr indent="0" marL="0">
              <a:lnSpc>
                <a:spcPct val="110000"/>
              </a:lnSpc>
              <a:buNone/>
            </a:pPr>
            <a:r>
              <a:rPr lang="en-US" sz="1000" dirty="0">
                <a:solidFill>
                  <a:srgbClr val="5F7480"/>
                </a:solidFill>
                <a:latin typeface="Calibri" pitchFamily="34" charset="0"/>
                <a:ea typeface="Calibri" pitchFamily="34" charset="-122"/>
                <a:cs typeface="Calibri" pitchFamily="34" charset="-120"/>
              </a:rPr>
              <a:t>pruebas con mayor factor en hombres, todas significativas (Mann-Whitney; el mayor de los doce valores p es 7,8e-8).</a:t>
            </a:r>
            <a:endParaRPr lang="en-US" sz="1000" dirty="0"/>
          </a:p>
        </p:txBody>
      </p:sp>
      <p:sp>
        <p:nvSpPr>
          <p:cNvPr id="8" name="Text 5"/>
          <p:cNvSpPr txBox="1"/>
          <p:nvPr/>
        </p:nvSpPr>
        <p:spPr>
          <a:xfrm>
            <a:off x="6217920" y="2487168"/>
            <a:ext cx="2331720" cy="329184"/>
          </a:xfrm>
          <a:prstGeom prst="rect">
            <a:avLst/>
          </a:prstGeom>
          <a:noFill/>
          <a:ln/>
        </p:spPr>
        <p:txBody>
          <a:bodyPr wrap="square" lIns="0" tIns="0" rIns="0" bIns="0" rtlCol="0" anchor="ctr"/>
          <a:lstStyle/>
          <a:p>
            <a:pPr indent="0" marL="0">
              <a:buNone/>
            </a:pPr>
            <a:r>
              <a:rPr lang="en-US" sz="2100" b="1" dirty="0">
                <a:solidFill>
                  <a:srgbClr val="0A3D5C"/>
                </a:solidFill>
                <a:latin typeface="Cambria" pitchFamily="34" charset="0"/>
                <a:ea typeface="Cambria" pitchFamily="34" charset="-122"/>
                <a:cs typeface="Cambria" pitchFamily="34" charset="-120"/>
              </a:rPr>
              <a:t>0,6 a 1,2</a:t>
            </a:r>
            <a:endParaRPr lang="en-US" sz="2100" dirty="0"/>
          </a:p>
        </p:txBody>
      </p:sp>
      <p:sp>
        <p:nvSpPr>
          <p:cNvPr id="9" name="Text 6"/>
          <p:cNvSpPr txBox="1"/>
          <p:nvPr/>
        </p:nvSpPr>
        <p:spPr>
          <a:xfrm>
            <a:off x="6217920" y="2816352"/>
            <a:ext cx="2331720" cy="365760"/>
          </a:xfrm>
          <a:prstGeom prst="rect">
            <a:avLst/>
          </a:prstGeom>
          <a:noFill/>
          <a:ln/>
        </p:spPr>
        <p:txBody>
          <a:bodyPr wrap="square" lIns="0" tIns="0" rIns="0" bIns="0" rtlCol="0" anchor="ctr"/>
          <a:lstStyle/>
          <a:p>
            <a:pPr indent="0" marL="0">
              <a:lnSpc>
                <a:spcPct val="110000"/>
              </a:lnSpc>
              <a:buNone/>
            </a:pPr>
            <a:r>
              <a:rPr lang="en-US" sz="1000" dirty="0">
                <a:solidFill>
                  <a:srgbClr val="5F7480"/>
                </a:solidFill>
                <a:latin typeface="Calibri" pitchFamily="34" charset="0"/>
                <a:ea typeface="Calibri" pitchFamily="34" charset="-122"/>
                <a:cs typeface="Calibri" pitchFamily="34" charset="-120"/>
              </a:rPr>
              <a:t>puntos porcentuales de diferencia, según la prueba.</a:t>
            </a:r>
            <a:endParaRPr lang="en-US" sz="1000" dirty="0"/>
          </a:p>
        </p:txBody>
      </p:sp>
      <p:sp>
        <p:nvSpPr>
          <p:cNvPr id="10" name="Text 7"/>
          <p:cNvSpPr txBox="1"/>
          <p:nvPr/>
        </p:nvSpPr>
        <p:spPr>
          <a:xfrm>
            <a:off x="6217920" y="3246120"/>
            <a:ext cx="2331720" cy="1005840"/>
          </a:xfrm>
          <a:prstGeom prst="rect">
            <a:avLst/>
          </a:prstGeom>
          <a:noFill/>
          <a:ln/>
        </p:spPr>
        <p:txBody>
          <a:bodyPr wrap="square" lIns="0" tIns="0" rIns="0" bIns="0" rtlCol="0" anchor="ctr"/>
          <a:lstStyle/>
          <a:p>
            <a:pPr indent="0" marL="0">
              <a:lnSpc>
                <a:spcPct val="112000"/>
              </a:lnSpc>
              <a:buNone/>
            </a:pPr>
            <a:r>
              <a:rPr lang="en-US" sz="1000" dirty="0">
                <a:solidFill>
                  <a:srgbClr val="16303D"/>
                </a:solidFill>
                <a:latin typeface="Calibri" pitchFamily="34" charset="0"/>
                <a:ea typeface="Calibri" pitchFamily="34" charset="-122"/>
                <a:cs typeface="Calibri" pitchFamily="34" charset="-120"/>
              </a:rPr>
              <a:t>Contradice </a:t>
            </a:r>
            <a:pPr indent="0" marL="0">
              <a:lnSpc>
                <a:spcPct val="112000"/>
              </a:lnSpc>
              <a:buNone/>
            </a:pPr>
            <a:r>
              <a:rPr lang="en-US" sz="1000" b="1" dirty="0">
                <a:solidFill>
                  <a:srgbClr val="16303D"/>
                </a:solidFill>
                <a:latin typeface="Calibri" pitchFamily="34" charset="0"/>
                <a:ea typeface="Calibri" pitchFamily="34" charset="-122"/>
                <a:cs typeface="Calibri" pitchFamily="34" charset="-120"/>
              </a:rPr>
              <a:t>a Iglesias García et al. (2025)</a:t>
            </a:r>
            <a:pPr indent="0" marL="0">
              <a:lnSpc>
                <a:spcPct val="112000"/>
              </a:lnSpc>
              <a:buNone/>
            </a:pPr>
            <a:r>
              <a:rPr lang="en-US" sz="1000" dirty="0">
                <a:solidFill>
                  <a:srgbClr val="16303D"/>
                </a:solidFill>
                <a:latin typeface="Calibri" pitchFamily="34" charset="0"/>
                <a:ea typeface="Calibri" pitchFamily="34" charset="-122"/>
                <a:cs typeface="Calibri" pitchFamily="34" charset="-120"/>
              </a:rPr>
              <a:t>, que sobre 200 nadadores españoles por categoría halla diferencias mínimas por sexo, y coincide con el análisis de récords de Curl (2014).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74320"/>
            <a:ext cx="8138160" cy="566928"/>
          </a:xfrm>
          <a:prstGeom prst="rect">
            <a:avLst/>
          </a:prstGeom>
          <a:noFill/>
          <a:ln/>
        </p:spPr>
        <p:txBody>
          <a:bodyPr wrap="square" lIns="0" tIns="0" rIns="0" bIns="0" rtlCol="0" anchor="ctr"/>
          <a:lstStyle/>
          <a:p>
            <a:pPr indent="0" marL="0">
              <a:buNone/>
            </a:pPr>
            <a:r>
              <a:rPr lang="en-US" sz="2700" b="1" dirty="0">
                <a:solidFill>
                  <a:srgbClr val="0A3D5C"/>
                </a:solidFill>
                <a:latin typeface="Cambria" pitchFamily="34" charset="0"/>
                <a:ea typeface="Cambria" pitchFamily="34" charset="-122"/>
                <a:cs typeface="Cambria" pitchFamily="34" charset="-120"/>
              </a:rPr>
              <a:t>Lo medido contra lo que exige la federación</a:t>
            </a:r>
            <a:endParaRPr lang="en-US" sz="2700" dirty="0"/>
          </a:p>
        </p:txBody>
      </p:sp>
      <p:sp>
        <p:nvSpPr>
          <p:cNvPr id="3" name="Text 1"/>
          <p:cNvSpPr txBox="1"/>
          <p:nvPr/>
        </p:nvSpPr>
        <p:spPr>
          <a:xfrm>
            <a:off x="502920" y="850392"/>
            <a:ext cx="8138160" cy="347472"/>
          </a:xfrm>
          <a:prstGeom prst="rect">
            <a:avLst/>
          </a:prstGeom>
          <a:noFill/>
          <a:ln/>
        </p:spPr>
        <p:txBody>
          <a:bodyPr wrap="square" lIns="0" tIns="0" rIns="0" bIns="0" rtlCol="0" anchor="ctr"/>
          <a:lstStyle/>
          <a:p>
            <a:pPr indent="0" marL="0">
              <a:buNone/>
            </a:pPr>
            <a:r>
              <a:rPr lang="en-US" sz="1300" dirty="0">
                <a:solidFill>
                  <a:srgbClr val="5F7480"/>
                </a:solidFill>
                <a:latin typeface="Calibri" pitchFamily="34" charset="0"/>
                <a:ea typeface="Calibri" pitchFamily="34" charset="-122"/>
                <a:cs typeface="Calibri" pitchFamily="34" charset="-120"/>
              </a:rPr>
              <a:t>La razón entre las dos marcas mínimas de World Aquatics es la equivalencia que la federación aplica de hecho.</a:t>
            </a:r>
            <a:endParaRPr lang="en-US" sz="1300" dirty="0"/>
          </a:p>
        </p:txBody>
      </p:sp>
      <p:pic>
        <p:nvPicPr>
          <p:cNvPr id="4" name="Image 0" descr="/mnt/user-data/uploads/diplomado-cdd/capstone/figuras_eda/4-5_barras_brecha_wa.png">    </p:cNvPr>
          <p:cNvPicPr>
            <a:picLocks noChangeAspect="1"/>
          </p:cNvPicPr>
          <p:nvPr/>
        </p:nvPicPr>
        <p:blipFill>
          <a:blip r:embed="rId1"/>
          <a:stretch>
            <a:fillRect/>
          </a:stretch>
        </p:blipFill>
        <p:spPr>
          <a:xfrm>
            <a:off x="457200" y="1298448"/>
            <a:ext cx="3694176" cy="3108960"/>
          </a:xfrm>
          <a:prstGeom prst="rect">
            <a:avLst/>
          </a:prstGeom>
        </p:spPr>
      </p:pic>
      <p:sp>
        <p:nvSpPr>
          <p:cNvPr id="5" name="Text 2"/>
          <p:cNvSpPr txBox="1"/>
          <p:nvPr/>
        </p:nvSpPr>
        <p:spPr>
          <a:xfrm>
            <a:off x="4663440" y="1298448"/>
            <a:ext cx="3977640" cy="329184"/>
          </a:xfrm>
          <a:prstGeom prst="rect">
            <a:avLst/>
          </a:prstGeom>
          <a:noFill/>
          <a:ln/>
        </p:spPr>
        <p:txBody>
          <a:bodyPr wrap="square" lIns="0" tIns="0" rIns="0" bIns="0" rtlCol="0" anchor="ctr"/>
          <a:lstStyle/>
          <a:p>
            <a:pPr indent="0" marL="0">
              <a:buNone/>
            </a:pPr>
            <a:r>
              <a:rPr lang="en-US" sz="2100" b="1" dirty="0">
                <a:solidFill>
                  <a:srgbClr val="0072B2"/>
                </a:solidFill>
                <a:latin typeface="Cambria" pitchFamily="34" charset="0"/>
                <a:ea typeface="Cambria" pitchFamily="34" charset="-122"/>
                <a:cs typeface="Cambria" pitchFamily="34" charset="-120"/>
              </a:rPr>
              <a:t>0,803</a:t>
            </a:r>
            <a:endParaRPr lang="en-US" sz="2100" dirty="0"/>
          </a:p>
        </p:txBody>
      </p:sp>
      <p:sp>
        <p:nvSpPr>
          <p:cNvPr id="6" name="Text 3"/>
          <p:cNvSpPr txBox="1"/>
          <p:nvPr/>
        </p:nvSpPr>
        <p:spPr>
          <a:xfrm>
            <a:off x="4663440" y="1645920"/>
            <a:ext cx="3977640" cy="603504"/>
          </a:xfrm>
          <a:prstGeom prst="rect">
            <a:avLst/>
          </a:prstGeom>
          <a:noFill/>
          <a:ln/>
        </p:spPr>
        <p:txBody>
          <a:bodyPr wrap="square" lIns="0" tIns="0" rIns="0" bIns="0" rtlCol="0" anchor="ctr"/>
          <a:lstStyle/>
          <a:p>
            <a:pPr indent="0" marL="0">
              <a:lnSpc>
                <a:spcPct val="112000"/>
              </a:lnSpc>
              <a:buNone/>
            </a:pPr>
            <a:r>
              <a:rPr lang="en-US" sz="1100" dirty="0">
                <a:solidFill>
                  <a:srgbClr val="16303D"/>
                </a:solidFill>
                <a:latin typeface="Calibri" pitchFamily="34" charset="0"/>
                <a:ea typeface="Calibri" pitchFamily="34" charset="-122"/>
                <a:cs typeface="Calibri" pitchFamily="34" charset="-120"/>
              </a:rPr>
              <a:t>es la correlación entre el factor oficial y el medido: la tabla no es arbitraria, captura la tendencia por estilo.</a:t>
            </a:r>
            <a:endParaRPr lang="en-US" sz="1100" dirty="0"/>
          </a:p>
        </p:txBody>
      </p:sp>
      <p:sp>
        <p:nvSpPr>
          <p:cNvPr id="7" name="Text 4"/>
          <p:cNvSpPr txBox="1"/>
          <p:nvPr/>
        </p:nvSpPr>
        <p:spPr>
          <a:xfrm>
            <a:off x="4663440" y="2304288"/>
            <a:ext cx="3977640" cy="329184"/>
          </a:xfrm>
          <a:prstGeom prst="rect">
            <a:avLst/>
          </a:prstGeom>
          <a:noFill/>
          <a:ln/>
        </p:spPr>
        <p:txBody>
          <a:bodyPr wrap="square" lIns="0" tIns="0" rIns="0" bIns="0" rtlCol="0" anchor="ctr"/>
          <a:lstStyle/>
          <a:p>
            <a:pPr indent="0" marL="0">
              <a:buNone/>
            </a:pPr>
            <a:r>
              <a:rPr lang="en-US" sz="2100" b="1" dirty="0">
                <a:solidFill>
                  <a:srgbClr val="D55E00"/>
                </a:solidFill>
                <a:latin typeface="Cambria" pitchFamily="34" charset="0"/>
                <a:ea typeface="Cambria" pitchFamily="34" charset="-122"/>
                <a:cs typeface="Cambria" pitchFamily="34" charset="-120"/>
              </a:rPr>
              <a:t>16 contra 8</a:t>
            </a:r>
            <a:endParaRPr lang="en-US" sz="2100" dirty="0"/>
          </a:p>
        </p:txBody>
      </p:sp>
      <p:sp>
        <p:nvSpPr>
          <p:cNvPr id="8" name="Text 5"/>
          <p:cNvSpPr txBox="1"/>
          <p:nvPr/>
        </p:nvSpPr>
        <p:spPr>
          <a:xfrm>
            <a:off x="4663440" y="2651760"/>
            <a:ext cx="3977640" cy="603504"/>
          </a:xfrm>
          <a:prstGeom prst="rect">
            <a:avLst/>
          </a:prstGeom>
          <a:noFill/>
          <a:ln/>
        </p:spPr>
        <p:txBody>
          <a:bodyPr wrap="square" lIns="0" tIns="0" rIns="0" bIns="0" rtlCol="0" anchor="ctr"/>
          <a:lstStyle/>
          <a:p>
            <a:pPr indent="0" marL="0">
              <a:lnSpc>
                <a:spcPct val="112000"/>
              </a:lnSpc>
              <a:buNone/>
            </a:pPr>
            <a:r>
              <a:rPr lang="en-US" sz="1100" dirty="0">
                <a:solidFill>
                  <a:srgbClr val="16303D"/>
                </a:solidFill>
                <a:latin typeface="Calibri" pitchFamily="34" charset="0"/>
                <a:ea typeface="Calibri" pitchFamily="34" charset="-122"/>
                <a:cs typeface="Calibri" pitchFamily="34" charset="-120"/>
              </a:rPr>
              <a:t>pruebas más fáciles de clasificar en 25 m que en 50 m, con una brecha mediana de 0,47 s.</a:t>
            </a:r>
            <a:endParaRPr lang="en-US" sz="1100" dirty="0"/>
          </a:p>
        </p:txBody>
      </p:sp>
      <p:sp>
        <p:nvSpPr>
          <p:cNvPr id="9" name="Text 6"/>
          <p:cNvSpPr txBox="1"/>
          <p:nvPr/>
        </p:nvSpPr>
        <p:spPr>
          <a:xfrm>
            <a:off x="4663440" y="3310128"/>
            <a:ext cx="3977640" cy="329184"/>
          </a:xfrm>
          <a:prstGeom prst="rect">
            <a:avLst/>
          </a:prstGeom>
          <a:noFill/>
          <a:ln/>
        </p:spPr>
        <p:txBody>
          <a:bodyPr wrap="square" lIns="0" tIns="0" rIns="0" bIns="0" rtlCol="0" anchor="ctr"/>
          <a:lstStyle/>
          <a:p>
            <a:pPr indent="0" marL="0">
              <a:buNone/>
            </a:pPr>
            <a:r>
              <a:rPr lang="en-US" sz="2100" b="1" dirty="0">
                <a:solidFill>
                  <a:srgbClr val="D55E00"/>
                </a:solidFill>
                <a:latin typeface="Cambria" pitchFamily="34" charset="0"/>
                <a:ea typeface="Cambria" pitchFamily="34" charset="-122"/>
                <a:cs typeface="Cambria" pitchFamily="34" charset="-120"/>
              </a:rPr>
              <a:t>3,66 s</a:t>
            </a:r>
            <a:endParaRPr lang="en-US" sz="2100" dirty="0"/>
          </a:p>
        </p:txBody>
      </p:sp>
      <p:sp>
        <p:nvSpPr>
          <p:cNvPr id="10" name="Text 7"/>
          <p:cNvSpPr txBox="1"/>
          <p:nvPr/>
        </p:nvSpPr>
        <p:spPr>
          <a:xfrm>
            <a:off x="4663440" y="3657600"/>
            <a:ext cx="3977640" cy="603504"/>
          </a:xfrm>
          <a:prstGeom prst="rect">
            <a:avLst/>
          </a:prstGeom>
          <a:noFill/>
          <a:ln/>
        </p:spPr>
        <p:txBody>
          <a:bodyPr wrap="square" lIns="0" tIns="0" rIns="0" bIns="0" rtlCol="0" anchor="ctr"/>
          <a:lstStyle/>
          <a:p>
            <a:pPr indent="0" marL="0">
              <a:lnSpc>
                <a:spcPct val="112000"/>
              </a:lnSpc>
              <a:buNone/>
            </a:pPr>
            <a:r>
              <a:rPr lang="en-US" sz="1100" dirty="0">
                <a:solidFill>
                  <a:srgbClr val="16303D"/>
                </a:solidFill>
                <a:latin typeface="Calibri" pitchFamily="34" charset="0"/>
                <a:ea typeface="Calibri" pitchFamily="34" charset="-122"/>
                <a:cs typeface="Calibri" pitchFamily="34" charset="-120"/>
              </a:rPr>
              <a:t>es el caso extremo, los 400 combinado femeninos. En 7 de las 24 pruebas la brecha es menor a 0,3 s, o sea ruido.</a:t>
            </a:r>
            <a:endParaRPr lang="en-US" sz="1100" dirty="0"/>
          </a:p>
        </p:txBody>
      </p:sp>
      <p:sp>
        <p:nvSpPr>
          <p:cNvPr id="11" name="Text 8"/>
          <p:cNvSpPr txBox="1"/>
          <p:nvPr/>
        </p:nvSpPr>
        <p:spPr>
          <a:xfrm>
            <a:off x="4663440" y="4315968"/>
            <a:ext cx="3977640" cy="475488"/>
          </a:xfrm>
          <a:prstGeom prst="rect">
            <a:avLst/>
          </a:prstGeom>
          <a:noFill/>
          <a:ln/>
        </p:spPr>
        <p:txBody>
          <a:bodyPr wrap="square" lIns="0" tIns="0" rIns="0" bIns="0" rtlCol="0" anchor="ctr"/>
          <a:lstStyle/>
          <a:p>
            <a:pPr indent="0" marL="0">
              <a:lnSpc>
                <a:spcPct val="110000"/>
              </a:lnSpc>
              <a:buNone/>
            </a:pPr>
            <a:r>
              <a:rPr lang="en-US" sz="1100" b="1" dirty="0">
                <a:solidFill>
                  <a:srgbClr val="0A3D5C"/>
                </a:solidFill>
                <a:latin typeface="Calibri" pitchFamily="34" charset="0"/>
                <a:ea typeface="Calibri" pitchFamily="34" charset="-122"/>
                <a:cs typeface="Calibri" pitchFamily="34" charset="-120"/>
              </a:rPr>
              <a:t>Para un nadador, la consecuencia práctica es que la piscina en la que conviene intentar la mínima depende de su prueba.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74320"/>
            <a:ext cx="8138160" cy="566928"/>
          </a:xfrm>
          <a:prstGeom prst="rect">
            <a:avLst/>
          </a:prstGeom>
          <a:noFill/>
          <a:ln/>
        </p:spPr>
        <p:txBody>
          <a:bodyPr wrap="square" lIns="0" tIns="0" rIns="0" bIns="0" rtlCol="0" anchor="ctr"/>
          <a:lstStyle/>
          <a:p>
            <a:pPr indent="0" marL="0">
              <a:buNone/>
            </a:pPr>
            <a:r>
              <a:rPr lang="en-US" sz="2700" b="1" dirty="0">
                <a:solidFill>
                  <a:srgbClr val="0A3D5C"/>
                </a:solidFill>
                <a:latin typeface="Cambria" pitchFamily="34" charset="0"/>
                <a:ea typeface="Cambria" pitchFamily="34" charset="-122"/>
                <a:cs typeface="Cambria" pitchFamily="34" charset="-120"/>
              </a:rPr>
              <a:t>El primer modelo</a:t>
            </a:r>
            <a:endParaRPr lang="en-US" sz="2700" dirty="0"/>
          </a:p>
        </p:txBody>
      </p:sp>
      <p:sp>
        <p:nvSpPr>
          <p:cNvPr id="3" name="Text 1"/>
          <p:cNvSpPr txBox="1"/>
          <p:nvPr/>
        </p:nvSpPr>
        <p:spPr>
          <a:xfrm>
            <a:off x="502920" y="850392"/>
            <a:ext cx="8138160" cy="347472"/>
          </a:xfrm>
          <a:prstGeom prst="rect">
            <a:avLst/>
          </a:prstGeom>
          <a:noFill/>
          <a:ln/>
        </p:spPr>
        <p:txBody>
          <a:bodyPr wrap="square" lIns="0" tIns="0" rIns="0" bIns="0" rtlCol="0" anchor="ctr"/>
          <a:lstStyle/>
          <a:p>
            <a:pPr indent="0" marL="0">
              <a:buNone/>
            </a:pPr>
            <a:r>
              <a:rPr lang="en-US" sz="1300" dirty="0">
                <a:solidFill>
                  <a:srgbClr val="5F7480"/>
                </a:solidFill>
                <a:latin typeface="Calibri" pitchFamily="34" charset="0"/>
                <a:ea typeface="Calibri" pitchFamily="34" charset="-122"/>
                <a:cs typeface="Calibri" pitchFamily="34" charset="-120"/>
              </a:rPr>
              <a:t>diferencia_s = β₀ + β₁ · vueltas_extra + ε, ajustado por mínimos cuadrados para cada estilo y sexo (n = 43.914).</a:t>
            </a:r>
            <a:endParaRPr lang="en-US" sz="1300" dirty="0"/>
          </a:p>
        </p:txBody>
      </p:sp>
      <p:pic>
        <p:nvPicPr>
          <p:cNvPr id="4" name="Image 0" descr="/mnt/user-data/uploads/diplomado-cdd/capstone/figuras_eda/6-1_modelo_pendientes.png">    </p:cNvPr>
          <p:cNvPicPr>
            <a:picLocks noChangeAspect="1"/>
          </p:cNvPicPr>
          <p:nvPr/>
        </p:nvPicPr>
        <p:blipFill>
          <a:blip r:embed="rId1"/>
          <a:stretch>
            <a:fillRect/>
          </a:stretch>
        </p:blipFill>
        <p:spPr>
          <a:xfrm>
            <a:off x="365760" y="1353312"/>
            <a:ext cx="5614416" cy="2926080"/>
          </a:xfrm>
          <a:prstGeom prst="rect">
            <a:avLst/>
          </a:prstGeom>
        </p:spPr>
      </p:pic>
      <p:sp>
        <p:nvSpPr>
          <p:cNvPr id="5" name="Shape 2"/>
          <p:cNvSpPr/>
          <p:nvPr/>
        </p:nvSpPr>
        <p:spPr>
          <a:xfrm>
            <a:off x="6126480" y="1225296"/>
            <a:ext cx="2560320" cy="3127248"/>
          </a:xfrm>
          <a:prstGeom prst="roundRect">
            <a:avLst>
              <a:gd name="adj" fmla="val 1786"/>
            </a:avLst>
          </a:prstGeom>
          <a:solidFill>
            <a:srgbClr val="EDF4F8"/>
          </a:solidFill>
          <a:ln w="12700">
            <a:solidFill>
              <a:srgbClr val="EDF4F8"/>
            </a:solidFill>
            <a:prstDash val="solid"/>
          </a:ln>
        </p:spPr>
      </p:sp>
      <p:sp>
        <p:nvSpPr>
          <p:cNvPr id="6" name="Text 3"/>
          <p:cNvSpPr txBox="1"/>
          <p:nvPr/>
        </p:nvSpPr>
        <p:spPr>
          <a:xfrm>
            <a:off x="6291072" y="1316736"/>
            <a:ext cx="2267712" cy="256032"/>
          </a:xfrm>
          <a:prstGeom prst="rect">
            <a:avLst/>
          </a:prstGeom>
          <a:noFill/>
          <a:ln/>
        </p:spPr>
        <p:txBody>
          <a:bodyPr wrap="square" lIns="0" tIns="0" rIns="0" bIns="0" rtlCol="0" anchor="ctr"/>
          <a:lstStyle/>
          <a:p>
            <a:pPr indent="0" marL="0">
              <a:buNone/>
            </a:pPr>
            <a:r>
              <a:rPr lang="en-US" sz="1400" b="1" dirty="0">
                <a:solidFill>
                  <a:srgbClr val="0A3D5C"/>
                </a:solidFill>
                <a:latin typeface="Cambria" pitchFamily="34" charset="0"/>
                <a:ea typeface="Cambria" pitchFamily="34" charset="-122"/>
                <a:cs typeface="Cambria" pitchFamily="34" charset="-120"/>
              </a:rPr>
              <a:t>Qué dice</a:t>
            </a:r>
            <a:endParaRPr lang="en-US" sz="1400" dirty="0"/>
          </a:p>
        </p:txBody>
      </p:sp>
      <p:sp>
        <p:nvSpPr>
          <p:cNvPr id="7" name="Text 4"/>
          <p:cNvSpPr txBox="1"/>
          <p:nvPr/>
        </p:nvSpPr>
        <p:spPr>
          <a:xfrm>
            <a:off x="6291072" y="1609344"/>
            <a:ext cx="2267712" cy="2048256"/>
          </a:xfrm>
          <a:prstGeom prst="rect">
            <a:avLst/>
          </a:prstGeom>
          <a:noFill/>
          <a:ln/>
        </p:spPr>
        <p:txBody>
          <a:bodyPr wrap="square" lIns="0" tIns="0" rIns="0" bIns="0" rtlCol="0" anchor="t"/>
          <a:lstStyle/>
          <a:p>
            <a:pPr indent="0" marL="0">
              <a:lnSpc>
                <a:spcPct val="110000"/>
              </a:lnSpc>
              <a:buNone/>
            </a:pPr>
            <a:r>
              <a:rPr lang="en-US" sz="980" b="1" dirty="0">
                <a:solidFill>
                  <a:srgbClr val="16303D"/>
                </a:solidFill>
                <a:latin typeface="Calibri" pitchFamily="34" charset="0"/>
                <a:ea typeface="Calibri" pitchFamily="34" charset="-122"/>
                <a:cs typeface="Calibri" pitchFamily="34" charset="-120"/>
              </a:rPr>
              <a:t>β₁ es la ventaja por vuelta.</a:t>
            </a:r>
            <a:endParaRPr lang="en-US" sz="980" dirty="0"/>
          </a:p>
          <a:p>
            <a:pPr indent="0" marL="0">
              <a:lnSpc>
                <a:spcPct val="110000"/>
              </a:lnSpc>
              <a:buNone/>
            </a:pPr>
            <a:r>
              <a:rPr lang="en-US" sz="980" dirty="0">
                <a:solidFill>
                  <a:srgbClr val="5F7480"/>
                </a:solidFill>
                <a:latin typeface="Calibri" pitchFamily="34" charset="0"/>
                <a:ea typeface="Calibri" pitchFamily="34" charset="-122"/>
                <a:cs typeface="Calibri" pitchFamily="34" charset="-120"/>
              </a:rPr>
              <a:t>Va de 0,98 s en libre femenino a 1,86 s en espalda masculino. Los intervalos de libre y de espalda no se tocan: la diferencia entre estilos no es ruido.</a:t>
            </a:r>
            <a:endParaRPr lang="en-US" sz="980" dirty="0"/>
          </a:p>
          <a:p>
            <a:pPr indent="0" marL="0">
              <a:lnSpc>
                <a:spcPct val="110000"/>
              </a:lnSpc>
              <a:buNone/>
            </a:pPr>
            <a:r>
              <a:rPr lang="en-US" sz="980" b="1" dirty="0">
                <a:solidFill>
                  <a:srgbClr val="16303D"/>
                </a:solidFill>
                <a:latin typeface="Calibri" pitchFamily="34" charset="0"/>
                <a:ea typeface="Calibri" pitchFamily="34" charset="-122"/>
                <a:cs typeface="Calibri" pitchFamily="34" charset="-120"/>
              </a:rPr>
              <a:t>β₀ = −0,41 s, y no es cero.</a:t>
            </a:r>
            <a:endParaRPr lang="en-US" sz="980" dirty="0"/>
          </a:p>
          <a:p>
            <a:pPr indent="0" marL="0">
              <a:lnSpc>
                <a:spcPct val="110000"/>
              </a:lnSpc>
              <a:buNone/>
            </a:pPr>
            <a:r>
              <a:rPr lang="en-US" sz="980" dirty="0">
                <a:solidFill>
                  <a:srgbClr val="5F7480"/>
                </a:solidFill>
                <a:latin typeface="Calibri" pitchFamily="34" charset="0"/>
                <a:ea typeface="Calibri" pitchFamily="34" charset="-122"/>
                <a:cs typeface="Calibri" pitchFamily="34" charset="-120"/>
              </a:rPr>
              <a:t>Si las vueltas explicaran toda la diferencia, el modelo pasaría por el origen. Como ningún nado tiene cero vueltas extra, no se lee literal: dice que una recta proporcional no ajusta.</a:t>
            </a:r>
            <a:endParaRPr lang="en-US" sz="980" dirty="0"/>
          </a:p>
        </p:txBody>
      </p:sp>
      <p:sp>
        <p:nvSpPr>
          <p:cNvPr id="8" name="Text 5"/>
          <p:cNvSpPr txBox="1"/>
          <p:nvPr/>
        </p:nvSpPr>
        <p:spPr>
          <a:xfrm>
            <a:off x="6291072" y="3675888"/>
            <a:ext cx="2267712" cy="603504"/>
          </a:xfrm>
          <a:prstGeom prst="rect">
            <a:avLst/>
          </a:prstGeom>
          <a:noFill/>
          <a:ln/>
        </p:spPr>
        <p:txBody>
          <a:bodyPr wrap="square" lIns="0" tIns="0" rIns="0" bIns="0" rtlCol="0" anchor="t"/>
          <a:lstStyle/>
          <a:p>
            <a:pPr indent="0" marL="0">
              <a:lnSpc>
                <a:spcPct val="110000"/>
              </a:lnSpc>
              <a:buNone/>
            </a:pPr>
            <a:r>
              <a:rPr lang="en-US" sz="980" b="1" dirty="0">
                <a:solidFill>
                  <a:srgbClr val="D55E00"/>
                </a:solidFill>
                <a:latin typeface="Calibri" pitchFamily="34" charset="0"/>
                <a:ea typeface="Calibri" pitchFamily="34" charset="-122"/>
                <a:cs typeface="Calibri" pitchFamily="34" charset="-120"/>
              </a:rPr>
              <a:t>Y una sorpresa: por vuelta, mariposa gana más que libre — al revés que en el factor, porque el factor divide por un tiempo total mayor.</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74320"/>
            <a:ext cx="8138160" cy="566928"/>
          </a:xfrm>
          <a:prstGeom prst="rect">
            <a:avLst/>
          </a:prstGeom>
          <a:noFill/>
          <a:ln/>
        </p:spPr>
        <p:txBody>
          <a:bodyPr wrap="square" lIns="0" tIns="0" rIns="0" bIns="0" rtlCol="0" anchor="ctr"/>
          <a:lstStyle/>
          <a:p>
            <a:pPr indent="0" marL="0">
              <a:buNone/>
            </a:pPr>
            <a:r>
              <a:rPr lang="en-US" sz="2700" b="1" dirty="0">
                <a:solidFill>
                  <a:srgbClr val="0A3D5C"/>
                </a:solidFill>
                <a:latin typeface="Cambria" pitchFamily="34" charset="0"/>
                <a:ea typeface="Cambria" pitchFamily="34" charset="-122"/>
                <a:cs typeface="Cambria" pitchFamily="34" charset="-120"/>
              </a:rPr>
              <a:t>Dos cosas que revisamos de nuestro propio análisis</a:t>
            </a:r>
            <a:endParaRPr lang="en-US" sz="2700" dirty="0"/>
          </a:p>
        </p:txBody>
      </p:sp>
      <p:sp>
        <p:nvSpPr>
          <p:cNvPr id="3" name="Text 1"/>
          <p:cNvSpPr txBox="1"/>
          <p:nvPr/>
        </p:nvSpPr>
        <p:spPr>
          <a:xfrm>
            <a:off x="502920" y="850392"/>
            <a:ext cx="8138160" cy="347472"/>
          </a:xfrm>
          <a:prstGeom prst="rect">
            <a:avLst/>
          </a:prstGeom>
          <a:noFill/>
          <a:ln/>
        </p:spPr>
        <p:txBody>
          <a:bodyPr wrap="square" lIns="0" tIns="0" rIns="0" bIns="0" rtlCol="0" anchor="ctr"/>
          <a:lstStyle/>
          <a:p>
            <a:pPr indent="0" marL="0">
              <a:buNone/>
            </a:pPr>
            <a:r>
              <a:rPr lang="en-US" sz="1300" dirty="0">
                <a:solidFill>
                  <a:srgbClr val="5F7480"/>
                </a:solidFill>
                <a:latin typeface="Calibri" pitchFamily="34" charset="0"/>
                <a:ea typeface="Calibri" pitchFamily="34" charset="-122"/>
                <a:cs typeface="Calibri" pitchFamily="34" charset="-120"/>
              </a:rPr>
              <a:t>Las dos cambian cómo hay que leer el factor, y las dos entran en el informe.</a:t>
            </a:r>
            <a:endParaRPr lang="en-US" sz="1300" dirty="0"/>
          </a:p>
        </p:txBody>
      </p:sp>
      <p:sp>
        <p:nvSpPr>
          <p:cNvPr id="4" name="Shape 2"/>
          <p:cNvSpPr/>
          <p:nvPr/>
        </p:nvSpPr>
        <p:spPr>
          <a:xfrm>
            <a:off x="502920" y="1298448"/>
            <a:ext cx="3977640" cy="3063240"/>
          </a:xfrm>
          <a:prstGeom prst="roundRect">
            <a:avLst>
              <a:gd name="adj" fmla="val 1493"/>
            </a:avLst>
          </a:prstGeom>
          <a:solidFill>
            <a:srgbClr val="EDF4F8"/>
          </a:solidFill>
          <a:ln w="12700">
            <a:solidFill>
              <a:srgbClr val="EDF4F8"/>
            </a:solidFill>
            <a:prstDash val="solid"/>
          </a:ln>
        </p:spPr>
      </p:sp>
      <p:sp>
        <p:nvSpPr>
          <p:cNvPr id="5" name="Text 3"/>
          <p:cNvSpPr txBox="1"/>
          <p:nvPr/>
        </p:nvSpPr>
        <p:spPr>
          <a:xfrm>
            <a:off x="685800" y="1408176"/>
            <a:ext cx="3611880" cy="292608"/>
          </a:xfrm>
          <a:prstGeom prst="rect">
            <a:avLst/>
          </a:prstGeom>
          <a:noFill/>
          <a:ln/>
        </p:spPr>
        <p:txBody>
          <a:bodyPr wrap="square" lIns="0" tIns="0" rIns="0" bIns="0" rtlCol="0" anchor="ctr"/>
          <a:lstStyle/>
          <a:p>
            <a:pPr indent="0" marL="0">
              <a:buNone/>
            </a:pPr>
            <a:r>
              <a:rPr lang="en-US" sz="1400" b="1" dirty="0">
                <a:solidFill>
                  <a:srgbClr val="0A3D5C"/>
                </a:solidFill>
                <a:latin typeface="Cambria" pitchFamily="34" charset="0"/>
                <a:ea typeface="Cambria" pitchFamily="34" charset="-122"/>
                <a:cs typeface="Cambria" pitchFamily="34" charset="-120"/>
              </a:rPr>
              <a:t>1 · El factor es un cociente: una trampa</a:t>
            </a:r>
            <a:endParaRPr lang="en-US" sz="1400" dirty="0"/>
          </a:p>
        </p:txBody>
      </p:sp>
      <p:sp>
        <p:nvSpPr>
          <p:cNvPr id="6" name="Text 4"/>
          <p:cNvSpPr txBox="1"/>
          <p:nvPr/>
        </p:nvSpPr>
        <p:spPr>
          <a:xfrm>
            <a:off x="685800" y="1773936"/>
            <a:ext cx="3611880" cy="566928"/>
          </a:xfrm>
          <a:prstGeom prst="rect">
            <a:avLst/>
          </a:prstGeom>
          <a:noFill/>
          <a:ln/>
        </p:spPr>
        <p:txBody>
          <a:bodyPr wrap="square" lIns="0" tIns="0" rIns="0" bIns="0" rtlCol="0" anchor="ctr"/>
          <a:lstStyle/>
          <a:p>
            <a:pPr indent="0" marL="0">
              <a:lnSpc>
                <a:spcPct val="112000"/>
              </a:lnSpc>
              <a:buNone/>
            </a:pPr>
            <a:r>
              <a:rPr lang="en-US" sz="1050" dirty="0">
                <a:solidFill>
                  <a:srgbClr val="16303D"/>
                </a:solidFill>
                <a:latin typeface="Calibri" pitchFamily="34" charset="0"/>
                <a:ea typeface="Calibri" pitchFamily="34" charset="-122"/>
                <a:cs typeface="Calibri" pitchFamily="34" charset="-120"/>
              </a:rPr>
              <a:t>Definir “élite” mirando uno solo de los dos lados mueve la mediana casi un punto porcentual sin que cambie ningún nadador: es regresión a la media.</a:t>
            </a:r>
            <a:endParaRPr lang="en-US" sz="1050" dirty="0"/>
          </a:p>
        </p:txBody>
      </p:sp>
      <p:sp>
        <p:nvSpPr>
          <p:cNvPr id="7" name="Text 5"/>
          <p:cNvSpPr txBox="1"/>
          <p:nvPr/>
        </p:nvSpPr>
        <p:spPr>
          <a:xfrm>
            <a:off x="685800" y="2487168"/>
            <a:ext cx="2697480" cy="256032"/>
          </a:xfrm>
          <a:prstGeom prst="rect">
            <a:avLst/>
          </a:prstGeom>
          <a:noFill/>
          <a:ln/>
        </p:spPr>
        <p:txBody>
          <a:bodyPr wrap="square" lIns="0" tIns="0" rIns="0" bIns="0" rtlCol="0" anchor="ctr"/>
          <a:lstStyle/>
          <a:p>
            <a:pPr indent="0" marL="0">
              <a:buNone/>
            </a:pPr>
            <a:r>
              <a:rPr lang="en-US" sz="1050" dirty="0">
                <a:solidFill>
                  <a:srgbClr val="16303D"/>
                </a:solidFill>
                <a:latin typeface="Calibri" pitchFamily="34" charset="0"/>
                <a:ea typeface="Calibri" pitchFamily="34" charset="-122"/>
                <a:cs typeface="Calibri" pitchFamily="34" charset="-120"/>
              </a:rPr>
              <a:t>Élite por su tiempo en 50 m</a:t>
            </a:r>
            <a:endParaRPr lang="en-US" sz="1050" dirty="0"/>
          </a:p>
        </p:txBody>
      </p:sp>
      <p:sp>
        <p:nvSpPr>
          <p:cNvPr id="8" name="Text 6"/>
          <p:cNvSpPr txBox="1"/>
          <p:nvPr/>
        </p:nvSpPr>
        <p:spPr>
          <a:xfrm>
            <a:off x="3401568" y="2487168"/>
            <a:ext cx="896112" cy="256032"/>
          </a:xfrm>
          <a:prstGeom prst="rect">
            <a:avLst/>
          </a:prstGeom>
          <a:noFill/>
          <a:ln/>
        </p:spPr>
        <p:txBody>
          <a:bodyPr wrap="square" lIns="0" tIns="0" rIns="0" bIns="0" rtlCol="0" anchor="ctr"/>
          <a:lstStyle/>
          <a:p>
            <a:pPr algn="r" indent="0" marL="0">
              <a:buNone/>
            </a:pPr>
            <a:r>
              <a:rPr lang="en-US" sz="1050" b="1" dirty="0">
                <a:solidFill>
                  <a:srgbClr val="0A3D5C"/>
                </a:solidFill>
                <a:latin typeface="Calibri" pitchFamily="34" charset="0"/>
                <a:ea typeface="Calibri" pitchFamily="34" charset="-122"/>
                <a:cs typeface="Calibri" pitchFamily="34" charset="-120"/>
              </a:rPr>
              <a:t>1,0269</a:t>
            </a:r>
            <a:endParaRPr lang="en-US" sz="1050" dirty="0"/>
          </a:p>
        </p:txBody>
      </p:sp>
      <p:sp>
        <p:nvSpPr>
          <p:cNvPr id="9" name="Text 7"/>
          <p:cNvSpPr txBox="1"/>
          <p:nvPr/>
        </p:nvSpPr>
        <p:spPr>
          <a:xfrm>
            <a:off x="685800" y="2779776"/>
            <a:ext cx="2697480" cy="256032"/>
          </a:xfrm>
          <a:prstGeom prst="rect">
            <a:avLst/>
          </a:prstGeom>
          <a:noFill/>
          <a:ln/>
        </p:spPr>
        <p:txBody>
          <a:bodyPr wrap="square" lIns="0" tIns="0" rIns="0" bIns="0" rtlCol="0" anchor="ctr"/>
          <a:lstStyle/>
          <a:p>
            <a:pPr indent="0" marL="0">
              <a:buNone/>
            </a:pPr>
            <a:r>
              <a:rPr lang="en-US" sz="1050" dirty="0">
                <a:solidFill>
                  <a:srgbClr val="16303D"/>
                </a:solidFill>
                <a:latin typeface="Calibri" pitchFamily="34" charset="0"/>
                <a:ea typeface="Calibri" pitchFamily="34" charset="-122"/>
                <a:cs typeface="Calibri" pitchFamily="34" charset="-120"/>
              </a:rPr>
              <a:t>Élite por su tiempo en 25 m</a:t>
            </a:r>
            <a:endParaRPr lang="en-US" sz="1050" dirty="0"/>
          </a:p>
        </p:txBody>
      </p:sp>
      <p:sp>
        <p:nvSpPr>
          <p:cNvPr id="10" name="Text 8"/>
          <p:cNvSpPr txBox="1"/>
          <p:nvPr/>
        </p:nvSpPr>
        <p:spPr>
          <a:xfrm>
            <a:off x="3401568" y="2779776"/>
            <a:ext cx="896112" cy="256032"/>
          </a:xfrm>
          <a:prstGeom prst="rect">
            <a:avLst/>
          </a:prstGeom>
          <a:noFill/>
          <a:ln/>
        </p:spPr>
        <p:txBody>
          <a:bodyPr wrap="square" lIns="0" tIns="0" rIns="0" bIns="0" rtlCol="0" anchor="ctr"/>
          <a:lstStyle/>
          <a:p>
            <a:pPr algn="r" indent="0" marL="0">
              <a:buNone/>
            </a:pPr>
            <a:r>
              <a:rPr lang="en-US" sz="1050" b="1" dirty="0">
                <a:solidFill>
                  <a:srgbClr val="0A3D5C"/>
                </a:solidFill>
                <a:latin typeface="Calibri" pitchFamily="34" charset="0"/>
                <a:ea typeface="Calibri" pitchFamily="34" charset="-122"/>
                <a:cs typeface="Calibri" pitchFamily="34" charset="-120"/>
              </a:rPr>
              <a:t>1,0361</a:t>
            </a:r>
            <a:endParaRPr lang="en-US" sz="1050" dirty="0"/>
          </a:p>
        </p:txBody>
      </p:sp>
      <p:sp>
        <p:nvSpPr>
          <p:cNvPr id="11" name="Text 9"/>
          <p:cNvSpPr txBox="1"/>
          <p:nvPr/>
        </p:nvSpPr>
        <p:spPr>
          <a:xfrm>
            <a:off x="685800" y="3072384"/>
            <a:ext cx="2697480" cy="256032"/>
          </a:xfrm>
          <a:prstGeom prst="rect">
            <a:avLst/>
          </a:prstGeom>
          <a:noFill/>
          <a:ln/>
        </p:spPr>
        <p:txBody>
          <a:bodyPr wrap="square" lIns="0" tIns="0" rIns="0" bIns="0" rtlCol="0" anchor="ctr"/>
          <a:lstStyle/>
          <a:p>
            <a:pPr indent="0" marL="0">
              <a:buNone/>
            </a:pPr>
            <a:r>
              <a:rPr lang="en-US" sz="1050" dirty="0">
                <a:solidFill>
                  <a:srgbClr val="16303D"/>
                </a:solidFill>
                <a:latin typeface="Calibri" pitchFamily="34" charset="0"/>
                <a:ea typeface="Calibri" pitchFamily="34" charset="-122"/>
                <a:cs typeface="Calibri" pitchFamily="34" charset="-120"/>
              </a:rPr>
              <a:t>Élite por el promedio (neutral)</a:t>
            </a:r>
            <a:endParaRPr lang="en-US" sz="1050" dirty="0"/>
          </a:p>
        </p:txBody>
      </p:sp>
      <p:sp>
        <p:nvSpPr>
          <p:cNvPr id="12" name="Text 10"/>
          <p:cNvSpPr txBox="1"/>
          <p:nvPr/>
        </p:nvSpPr>
        <p:spPr>
          <a:xfrm>
            <a:off x="3401568" y="3072384"/>
            <a:ext cx="896112" cy="256032"/>
          </a:xfrm>
          <a:prstGeom prst="rect">
            <a:avLst/>
          </a:prstGeom>
          <a:noFill/>
          <a:ln/>
        </p:spPr>
        <p:txBody>
          <a:bodyPr wrap="square" lIns="0" tIns="0" rIns="0" bIns="0" rtlCol="0" anchor="ctr"/>
          <a:lstStyle/>
          <a:p>
            <a:pPr algn="r" indent="0" marL="0">
              <a:buNone/>
            </a:pPr>
            <a:r>
              <a:rPr lang="en-US" sz="1050" b="1" dirty="0">
                <a:solidFill>
                  <a:srgbClr val="0A3D5C"/>
                </a:solidFill>
                <a:latin typeface="Calibri" pitchFamily="34" charset="0"/>
                <a:ea typeface="Calibri" pitchFamily="34" charset="-122"/>
                <a:cs typeface="Calibri" pitchFamily="34" charset="-120"/>
              </a:rPr>
              <a:t>1,0321</a:t>
            </a:r>
            <a:endParaRPr lang="en-US" sz="1050" dirty="0"/>
          </a:p>
        </p:txBody>
      </p:sp>
      <p:sp>
        <p:nvSpPr>
          <p:cNvPr id="13" name="Text 11"/>
          <p:cNvSpPr txBox="1"/>
          <p:nvPr/>
        </p:nvSpPr>
        <p:spPr>
          <a:xfrm>
            <a:off x="685800" y="3364992"/>
            <a:ext cx="2697480" cy="256032"/>
          </a:xfrm>
          <a:prstGeom prst="rect">
            <a:avLst/>
          </a:prstGeom>
          <a:noFill/>
          <a:ln/>
        </p:spPr>
        <p:txBody>
          <a:bodyPr wrap="square" lIns="0" tIns="0" rIns="0" bIns="0" rtlCol="0" anchor="ctr"/>
          <a:lstStyle/>
          <a:p>
            <a:pPr indent="0" marL="0">
              <a:buNone/>
            </a:pPr>
            <a:r>
              <a:rPr lang="en-US" sz="1050" i="1" dirty="0">
                <a:solidFill>
                  <a:srgbClr val="5F7480"/>
                </a:solidFill>
                <a:latin typeface="Calibri" pitchFamily="34" charset="0"/>
                <a:ea typeface="Calibri" pitchFamily="34" charset="-122"/>
                <a:cs typeface="Calibri" pitchFamily="34" charset="-120"/>
              </a:rPr>
              <a:t>Todos los pares</a:t>
            </a:r>
            <a:endParaRPr lang="en-US" sz="1050" dirty="0"/>
          </a:p>
        </p:txBody>
      </p:sp>
      <p:sp>
        <p:nvSpPr>
          <p:cNvPr id="14" name="Text 12"/>
          <p:cNvSpPr txBox="1"/>
          <p:nvPr/>
        </p:nvSpPr>
        <p:spPr>
          <a:xfrm>
            <a:off x="3401568" y="3364992"/>
            <a:ext cx="896112" cy="256032"/>
          </a:xfrm>
          <a:prstGeom prst="rect">
            <a:avLst/>
          </a:prstGeom>
          <a:noFill/>
          <a:ln/>
        </p:spPr>
        <p:txBody>
          <a:bodyPr wrap="square" lIns="0" tIns="0" rIns="0" bIns="0" rtlCol="0" anchor="ctr"/>
          <a:lstStyle/>
          <a:p>
            <a:pPr algn="r" indent="0" marL="0">
              <a:buNone/>
            </a:pPr>
            <a:r>
              <a:rPr lang="en-US" sz="1050" b="1" dirty="0">
                <a:solidFill>
                  <a:srgbClr val="5F7480"/>
                </a:solidFill>
                <a:latin typeface="Calibri" pitchFamily="34" charset="0"/>
                <a:ea typeface="Calibri" pitchFamily="34" charset="-122"/>
                <a:cs typeface="Calibri" pitchFamily="34" charset="-120"/>
              </a:rPr>
              <a:t>1,0318</a:t>
            </a:r>
            <a:endParaRPr lang="en-US" sz="1050" dirty="0"/>
          </a:p>
        </p:txBody>
      </p:sp>
      <p:sp>
        <p:nvSpPr>
          <p:cNvPr id="15" name="Text 13"/>
          <p:cNvSpPr txBox="1"/>
          <p:nvPr/>
        </p:nvSpPr>
        <p:spPr>
          <a:xfrm>
            <a:off x="685800" y="3749040"/>
            <a:ext cx="3611880" cy="512064"/>
          </a:xfrm>
          <a:prstGeom prst="rect">
            <a:avLst/>
          </a:prstGeom>
          <a:noFill/>
          <a:ln/>
        </p:spPr>
        <p:txBody>
          <a:bodyPr wrap="square" lIns="0" tIns="0" rIns="0" bIns="0" rtlCol="0" anchor="ctr"/>
          <a:lstStyle/>
          <a:p>
            <a:pPr indent="0" marL="0">
              <a:lnSpc>
                <a:spcPct val="110000"/>
              </a:lnSpc>
              <a:buNone/>
            </a:pPr>
            <a:r>
              <a:rPr lang="en-US" sz="1000" dirty="0">
                <a:solidFill>
                  <a:srgbClr val="5F7480"/>
                </a:solidFill>
                <a:latin typeface="Calibri" pitchFamily="34" charset="0"/>
                <a:ea typeface="Calibri" pitchFamily="34" charset="-122"/>
                <a:cs typeface="Calibri" pitchFamily="34" charset="-120"/>
              </a:rPr>
              <a:t>Con la definición neutral la mediana queda a 0,0003 del total: sigue siendo significativa por el tamaño de la muestra, pero deja de importar. Por eso podemos compararla con una tabla de mínimas de nivel más alto.</a:t>
            </a:r>
            <a:endParaRPr lang="en-US" sz="1000" dirty="0"/>
          </a:p>
        </p:txBody>
      </p:sp>
      <p:sp>
        <p:nvSpPr>
          <p:cNvPr id="16" name="Shape 14"/>
          <p:cNvSpPr/>
          <p:nvPr/>
        </p:nvSpPr>
        <p:spPr>
          <a:xfrm>
            <a:off x="4663440" y="1298448"/>
            <a:ext cx="3977640" cy="3063240"/>
          </a:xfrm>
          <a:prstGeom prst="roundRect">
            <a:avLst>
              <a:gd name="adj" fmla="val 1493"/>
            </a:avLst>
          </a:prstGeom>
          <a:solidFill>
            <a:srgbClr val="FBEEE5"/>
          </a:solidFill>
          <a:ln w="12700">
            <a:solidFill>
              <a:srgbClr val="FBEEE5"/>
            </a:solidFill>
            <a:prstDash val="solid"/>
          </a:ln>
        </p:spPr>
      </p:sp>
      <p:sp>
        <p:nvSpPr>
          <p:cNvPr id="17" name="Text 15"/>
          <p:cNvSpPr txBox="1"/>
          <p:nvPr/>
        </p:nvSpPr>
        <p:spPr>
          <a:xfrm>
            <a:off x="4846320" y="1408176"/>
            <a:ext cx="3611880" cy="292608"/>
          </a:xfrm>
          <a:prstGeom prst="rect">
            <a:avLst/>
          </a:prstGeom>
          <a:noFill/>
          <a:ln/>
        </p:spPr>
        <p:txBody>
          <a:bodyPr wrap="square" lIns="0" tIns="0" rIns="0" bIns="0" rtlCol="0" anchor="ctr"/>
          <a:lstStyle/>
          <a:p>
            <a:pPr indent="0" marL="0">
              <a:buNone/>
            </a:pPr>
            <a:r>
              <a:rPr lang="en-US" sz="1400" b="1" dirty="0">
                <a:solidFill>
                  <a:srgbClr val="D55E00"/>
                </a:solidFill>
                <a:latin typeface="Cambria" pitchFamily="34" charset="0"/>
                <a:ea typeface="Cambria" pitchFamily="34" charset="-122"/>
                <a:cs typeface="Cambria" pitchFamily="34" charset="-120"/>
              </a:rPr>
              <a:t>2 · Qué marca del año entra en el cociente</a:t>
            </a:r>
            <a:endParaRPr lang="en-US" sz="1400" dirty="0"/>
          </a:p>
        </p:txBody>
      </p:sp>
      <p:sp>
        <p:nvSpPr>
          <p:cNvPr id="18" name="Text 16"/>
          <p:cNvSpPr txBox="1"/>
          <p:nvPr/>
        </p:nvSpPr>
        <p:spPr>
          <a:xfrm>
            <a:off x="4846320" y="1773936"/>
            <a:ext cx="3611880" cy="475488"/>
          </a:xfrm>
          <a:prstGeom prst="rect">
            <a:avLst/>
          </a:prstGeom>
          <a:noFill/>
          <a:ln/>
        </p:spPr>
        <p:txBody>
          <a:bodyPr wrap="square" lIns="0" tIns="0" rIns="0" bIns="0" rtlCol="0" anchor="t"/>
          <a:lstStyle/>
          <a:p>
            <a:pPr indent="0" marL="0">
              <a:lnSpc>
                <a:spcPct val="112000"/>
              </a:lnSpc>
              <a:buNone/>
            </a:pPr>
            <a:r>
              <a:rPr lang="en-US" sz="1050" dirty="0">
                <a:solidFill>
                  <a:srgbClr val="16303D"/>
                </a:solidFill>
                <a:latin typeface="Calibri" pitchFamily="34" charset="0"/>
                <a:ea typeface="Calibri" pitchFamily="34" charset="-122"/>
                <a:cs typeface="Calibri" pitchFamily="34" charset="-120"/>
              </a:rPr>
              <a:t>El ranking mensual da varias marcas por nadador y temporada, así que hay que elegir cuál entra. La elección mueve el resultado:</a:t>
            </a:r>
            <a:endParaRPr lang="en-US" sz="1050" dirty="0"/>
          </a:p>
        </p:txBody>
      </p:sp>
      <p:sp>
        <p:nvSpPr>
          <p:cNvPr id="19" name="Text 17"/>
          <p:cNvSpPr txBox="1"/>
          <p:nvPr/>
        </p:nvSpPr>
        <p:spPr>
          <a:xfrm>
            <a:off x="4846320" y="2340864"/>
            <a:ext cx="2697480" cy="256032"/>
          </a:xfrm>
          <a:prstGeom prst="rect">
            <a:avLst/>
          </a:prstGeom>
          <a:noFill/>
          <a:ln/>
        </p:spPr>
        <p:txBody>
          <a:bodyPr wrap="square" lIns="0" tIns="0" rIns="0" bIns="0" rtlCol="0" anchor="ctr"/>
          <a:lstStyle/>
          <a:p>
            <a:pPr indent="0" marL="0">
              <a:buNone/>
            </a:pPr>
            <a:r>
              <a:rPr lang="en-US" sz="1050" dirty="0">
                <a:solidFill>
                  <a:srgbClr val="16303D"/>
                </a:solidFill>
                <a:latin typeface="Calibri" pitchFamily="34" charset="0"/>
                <a:ea typeface="Calibri" pitchFamily="34" charset="-122"/>
                <a:cs typeface="Calibri" pitchFamily="34" charset="-120"/>
              </a:rPr>
              <a:t>Con la mejor marca del año</a:t>
            </a:r>
            <a:endParaRPr lang="en-US" sz="1050" dirty="0"/>
          </a:p>
        </p:txBody>
      </p:sp>
      <p:sp>
        <p:nvSpPr>
          <p:cNvPr id="20" name="Text 18"/>
          <p:cNvSpPr txBox="1"/>
          <p:nvPr/>
        </p:nvSpPr>
        <p:spPr>
          <a:xfrm>
            <a:off x="7562088" y="2340864"/>
            <a:ext cx="896112" cy="256032"/>
          </a:xfrm>
          <a:prstGeom prst="rect">
            <a:avLst/>
          </a:prstGeom>
          <a:noFill/>
          <a:ln/>
        </p:spPr>
        <p:txBody>
          <a:bodyPr wrap="square" lIns="0" tIns="0" rIns="0" bIns="0" rtlCol="0" anchor="ctr"/>
          <a:lstStyle/>
          <a:p>
            <a:pPr algn="r" indent="0" marL="0">
              <a:buNone/>
            </a:pPr>
            <a:r>
              <a:rPr lang="en-US" sz="1050" b="1" dirty="0">
                <a:solidFill>
                  <a:srgbClr val="D55E00"/>
                </a:solidFill>
                <a:latin typeface="Calibri" pitchFamily="34" charset="0"/>
                <a:ea typeface="Calibri" pitchFamily="34" charset="-122"/>
                <a:cs typeface="Calibri" pitchFamily="34" charset="-120"/>
              </a:rPr>
              <a:t>1,0318</a:t>
            </a:r>
            <a:endParaRPr lang="en-US" sz="1050" dirty="0"/>
          </a:p>
        </p:txBody>
      </p:sp>
      <p:sp>
        <p:nvSpPr>
          <p:cNvPr id="21" name="Text 19"/>
          <p:cNvSpPr txBox="1"/>
          <p:nvPr/>
        </p:nvSpPr>
        <p:spPr>
          <a:xfrm>
            <a:off x="4846320" y="2633472"/>
            <a:ext cx="2697480" cy="256032"/>
          </a:xfrm>
          <a:prstGeom prst="rect">
            <a:avLst/>
          </a:prstGeom>
          <a:noFill/>
          <a:ln/>
        </p:spPr>
        <p:txBody>
          <a:bodyPr wrap="square" lIns="0" tIns="0" rIns="0" bIns="0" rtlCol="0" anchor="ctr"/>
          <a:lstStyle/>
          <a:p>
            <a:pPr indent="0" marL="0">
              <a:buNone/>
            </a:pPr>
            <a:r>
              <a:rPr lang="en-US" sz="1050" dirty="0">
                <a:solidFill>
                  <a:srgbClr val="16303D"/>
                </a:solidFill>
                <a:latin typeface="Calibri" pitchFamily="34" charset="0"/>
                <a:ea typeface="Calibri" pitchFamily="34" charset="-122"/>
                <a:cs typeface="Calibri" pitchFamily="34" charset="-120"/>
              </a:rPr>
              <a:t>Con la mediana del año</a:t>
            </a:r>
            <a:endParaRPr lang="en-US" sz="1050" dirty="0"/>
          </a:p>
        </p:txBody>
      </p:sp>
      <p:sp>
        <p:nvSpPr>
          <p:cNvPr id="22" name="Text 20"/>
          <p:cNvSpPr txBox="1"/>
          <p:nvPr/>
        </p:nvSpPr>
        <p:spPr>
          <a:xfrm>
            <a:off x="7562088" y="2633472"/>
            <a:ext cx="896112" cy="256032"/>
          </a:xfrm>
          <a:prstGeom prst="rect">
            <a:avLst/>
          </a:prstGeom>
          <a:noFill/>
          <a:ln/>
        </p:spPr>
        <p:txBody>
          <a:bodyPr wrap="square" lIns="0" tIns="0" rIns="0" bIns="0" rtlCol="0" anchor="ctr"/>
          <a:lstStyle/>
          <a:p>
            <a:pPr algn="r" indent="0" marL="0">
              <a:buNone/>
            </a:pPr>
            <a:r>
              <a:rPr lang="en-US" sz="1050" b="1" dirty="0">
                <a:solidFill>
                  <a:srgbClr val="D55E00"/>
                </a:solidFill>
                <a:latin typeface="Calibri" pitchFamily="34" charset="0"/>
                <a:ea typeface="Calibri" pitchFamily="34" charset="-122"/>
                <a:cs typeface="Calibri" pitchFamily="34" charset="-120"/>
              </a:rPr>
              <a:t>1,0354</a:t>
            </a:r>
            <a:endParaRPr lang="en-US" sz="1050" dirty="0"/>
          </a:p>
        </p:txBody>
      </p:sp>
      <p:sp>
        <p:nvSpPr>
          <p:cNvPr id="23" name="Text 21"/>
          <p:cNvSpPr txBox="1"/>
          <p:nvPr/>
        </p:nvSpPr>
        <p:spPr>
          <a:xfrm>
            <a:off x="4846320" y="2999232"/>
            <a:ext cx="3611880" cy="731520"/>
          </a:xfrm>
          <a:prstGeom prst="rect">
            <a:avLst/>
          </a:prstGeom>
          <a:noFill/>
          <a:ln/>
        </p:spPr>
        <p:txBody>
          <a:bodyPr wrap="square" lIns="0" tIns="0" rIns="0" bIns="0" rtlCol="0" anchor="t"/>
          <a:lstStyle/>
          <a:p>
            <a:pPr indent="0" marL="0">
              <a:lnSpc>
                <a:spcPct val="112000"/>
              </a:lnSpc>
              <a:buNone/>
            </a:pPr>
            <a:r>
              <a:rPr lang="en-US" sz="1050" dirty="0">
                <a:solidFill>
                  <a:srgbClr val="16303D"/>
                </a:solidFill>
                <a:latin typeface="Calibri" pitchFamily="34" charset="0"/>
                <a:ea typeface="Calibri" pitchFamily="34" charset="-122"/>
                <a:cs typeface="Calibri" pitchFamily="34" charset="-120"/>
              </a:rPr>
              <a:t>No es neutro: en 50 m la mayoría tiene dos o más registros y en 25 m uno solo, así que la mediana castiga sobre todo al numerador e infla el factor. La diferencia es del mismo orden que la brecha entre sexos.</a:t>
            </a:r>
            <a:endParaRPr lang="en-US" sz="1050" dirty="0"/>
          </a:p>
        </p:txBody>
      </p:sp>
      <p:sp>
        <p:nvSpPr>
          <p:cNvPr id="24" name="Text 22"/>
          <p:cNvSpPr txBox="1"/>
          <p:nvPr/>
        </p:nvSpPr>
        <p:spPr>
          <a:xfrm>
            <a:off x="4846320" y="3785616"/>
            <a:ext cx="3611880" cy="475488"/>
          </a:xfrm>
          <a:prstGeom prst="rect">
            <a:avLst/>
          </a:prstGeom>
          <a:noFill/>
          <a:ln/>
        </p:spPr>
        <p:txBody>
          <a:bodyPr wrap="square" lIns="0" tIns="0" rIns="0" bIns="0" rtlCol="0" anchor="t"/>
          <a:lstStyle/>
          <a:p>
            <a:pPr indent="0" marL="0">
              <a:lnSpc>
                <a:spcPct val="110000"/>
              </a:lnSpc>
              <a:buNone/>
            </a:pPr>
            <a:r>
              <a:rPr lang="en-US" sz="1050" b="1" dirty="0">
                <a:solidFill>
                  <a:srgbClr val="D55E00"/>
                </a:solidFill>
                <a:latin typeface="Calibri" pitchFamily="34" charset="0"/>
                <a:ea typeface="Calibri" pitchFamily="34" charset="-122"/>
                <a:cs typeface="Calibri" pitchFamily="34" charset="-120"/>
              </a:rPr>
              <a:t>Vamos con la mejor marca: es la que se usa para clasificar. La mediana queda como análisis de sensibilidad.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3D5C"/>
        </a:solidFill>
      </p:bgPr>
    </p:bg>
    <p:spTree>
      <p:nvGrpSpPr>
        <p:cNvPr id="1" name=""/>
        <p:cNvGrpSpPr/>
        <p:nvPr/>
      </p:nvGrpSpPr>
      <p:grpSpPr>
        <a:xfrm>
          <a:off x="0" y="0"/>
          <a:ext cx="0" cy="0"/>
          <a:chOff x="0" y="0"/>
          <a:chExt cx="0" cy="0"/>
        </a:xfrm>
      </p:grpSpPr>
      <p:sp>
        <p:nvSpPr>
          <p:cNvPr id="2" name="Text 0"/>
          <p:cNvSpPr txBox="1"/>
          <p:nvPr/>
        </p:nvSpPr>
        <p:spPr>
          <a:xfrm>
            <a:off x="502920" y="384048"/>
            <a:ext cx="813816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Limitaciones y lo que viene</a:t>
            </a:r>
            <a:endParaRPr lang="en-US" sz="2600" dirty="0"/>
          </a:p>
        </p:txBody>
      </p:sp>
      <p:sp>
        <p:nvSpPr>
          <p:cNvPr id="3" name="Text 1"/>
          <p:cNvSpPr txBox="1"/>
          <p:nvPr/>
        </p:nvSpPr>
        <p:spPr>
          <a:xfrm>
            <a:off x="502920" y="1024128"/>
            <a:ext cx="3840480" cy="274320"/>
          </a:xfrm>
          <a:prstGeom prst="rect">
            <a:avLst/>
          </a:prstGeom>
          <a:noFill/>
          <a:ln/>
        </p:spPr>
        <p:txBody>
          <a:bodyPr wrap="square" lIns="0" tIns="0" rIns="0" bIns="0" rtlCol="0" anchor="ctr"/>
          <a:lstStyle/>
          <a:p>
            <a:pPr indent="0" marL="0">
              <a:buNone/>
            </a:pPr>
            <a:r>
              <a:rPr lang="en-US" sz="1200" b="1" dirty="0">
                <a:solidFill>
                  <a:srgbClr val="9FC4D6"/>
                </a:solidFill>
                <a:latin typeface="Calibri" pitchFamily="34" charset="0"/>
                <a:ea typeface="Calibri" pitchFamily="34" charset="-122"/>
                <a:cs typeface="Calibri" pitchFamily="34" charset="-120"/>
              </a:rPr>
              <a:t>Qué no permiten decir los datos</a:t>
            </a:r>
            <a:endParaRPr lang="en-US" sz="1200" dirty="0"/>
          </a:p>
        </p:txBody>
      </p:sp>
      <p:sp>
        <p:nvSpPr>
          <p:cNvPr id="4" name="Text 2"/>
          <p:cNvSpPr txBox="1"/>
          <p:nvPr/>
        </p:nvSpPr>
        <p:spPr>
          <a:xfrm>
            <a:off x="502920" y="1371600"/>
            <a:ext cx="201168" cy="256032"/>
          </a:xfrm>
          <a:prstGeom prst="rect">
            <a:avLst/>
          </a:prstGeom>
          <a:noFill/>
          <a:ln/>
        </p:spPr>
        <p:txBody>
          <a:bodyPr wrap="square" lIns="0" tIns="0" rIns="0" bIns="0" rtlCol="0" anchor="t"/>
          <a:lstStyle/>
          <a:p>
            <a:pPr indent="0" marL="0">
              <a:buNone/>
            </a:pPr>
            <a:r>
              <a:rPr lang="en-US" sz="1050" b="1" dirty="0">
                <a:solidFill>
                  <a:srgbClr val="5FA8CC"/>
                </a:solidFill>
                <a:latin typeface="Calibri" pitchFamily="34" charset="0"/>
                <a:ea typeface="Calibri" pitchFamily="34" charset="-122"/>
                <a:cs typeface="Calibri" pitchFamily="34" charset="-120"/>
              </a:rPr>
              <a:t>—</a:t>
            </a:r>
            <a:endParaRPr lang="en-US" sz="1050" dirty="0"/>
          </a:p>
        </p:txBody>
      </p:sp>
      <p:sp>
        <p:nvSpPr>
          <p:cNvPr id="5" name="Text 3"/>
          <p:cNvSpPr txBox="1"/>
          <p:nvPr/>
        </p:nvSpPr>
        <p:spPr>
          <a:xfrm>
            <a:off x="749808" y="1371600"/>
            <a:ext cx="3593592" cy="603504"/>
          </a:xfrm>
          <a:prstGeom prst="rect">
            <a:avLst/>
          </a:prstGeom>
          <a:noFill/>
          <a:ln/>
        </p:spPr>
        <p:txBody>
          <a:bodyPr wrap="square" lIns="0" tIns="0" rIns="0" bIns="0" rtlCol="0" anchor="t"/>
          <a:lstStyle/>
          <a:p>
            <a:pPr indent="0" marL="0">
              <a:lnSpc>
                <a:spcPct val="110000"/>
              </a:lnSpc>
              <a:buNone/>
            </a:pPr>
            <a:r>
              <a:rPr lang="en-US" sz="1050" dirty="0">
                <a:solidFill>
                  <a:srgbClr val="CFE3EE"/>
                </a:solidFill>
                <a:latin typeface="Calibri" pitchFamily="34" charset="0"/>
                <a:ea typeface="Calibri" pitchFamily="34" charset="-122"/>
                <a:cs typeface="Calibri" pitchFamily="34" charset="-120"/>
              </a:rPr>
              <a:t>La muestra son los mejores de cada ranking, no es aleatoria: describe a la élite competitiva.</a:t>
            </a:r>
            <a:endParaRPr lang="en-US" sz="1050" dirty="0"/>
          </a:p>
        </p:txBody>
      </p:sp>
      <p:sp>
        <p:nvSpPr>
          <p:cNvPr id="6" name="Text 4"/>
          <p:cNvSpPr txBox="1"/>
          <p:nvPr/>
        </p:nvSpPr>
        <p:spPr>
          <a:xfrm>
            <a:off x="502920" y="2029968"/>
            <a:ext cx="201168" cy="256032"/>
          </a:xfrm>
          <a:prstGeom prst="rect">
            <a:avLst/>
          </a:prstGeom>
          <a:noFill/>
          <a:ln/>
        </p:spPr>
        <p:txBody>
          <a:bodyPr wrap="square" lIns="0" tIns="0" rIns="0" bIns="0" rtlCol="0" anchor="t"/>
          <a:lstStyle/>
          <a:p>
            <a:pPr indent="0" marL="0">
              <a:buNone/>
            </a:pPr>
            <a:r>
              <a:rPr lang="en-US" sz="1050" b="1" dirty="0">
                <a:solidFill>
                  <a:srgbClr val="5FA8CC"/>
                </a:solidFill>
                <a:latin typeface="Calibri" pitchFamily="34" charset="0"/>
                <a:ea typeface="Calibri" pitchFamily="34" charset="-122"/>
                <a:cs typeface="Calibri" pitchFamily="34" charset="-120"/>
              </a:rPr>
              <a:t>—</a:t>
            </a:r>
            <a:endParaRPr lang="en-US" sz="1050" dirty="0"/>
          </a:p>
        </p:txBody>
      </p:sp>
      <p:sp>
        <p:nvSpPr>
          <p:cNvPr id="7" name="Text 5"/>
          <p:cNvSpPr txBox="1"/>
          <p:nvPr/>
        </p:nvSpPr>
        <p:spPr>
          <a:xfrm>
            <a:off x="749808" y="2029968"/>
            <a:ext cx="3593592" cy="603504"/>
          </a:xfrm>
          <a:prstGeom prst="rect">
            <a:avLst/>
          </a:prstGeom>
          <a:noFill/>
          <a:ln/>
        </p:spPr>
        <p:txBody>
          <a:bodyPr wrap="square" lIns="0" tIns="0" rIns="0" bIns="0" rtlCol="0" anchor="t"/>
          <a:lstStyle/>
          <a:p>
            <a:pPr indent="0" marL="0">
              <a:lnSpc>
                <a:spcPct val="110000"/>
              </a:lnSpc>
              <a:buNone/>
            </a:pPr>
            <a:r>
              <a:rPr lang="en-US" sz="1050" dirty="0">
                <a:solidFill>
                  <a:srgbClr val="CFE3EE"/>
                </a:solidFill>
                <a:latin typeface="Calibri" pitchFamily="34" charset="0"/>
                <a:ea typeface="Calibri" pitchFamily="34" charset="-122"/>
                <a:cs typeface="Calibri" pitchFamily="34" charset="-120"/>
              </a:rPr>
              <a:t>Un nadador puede estar en distinta forma en cada calendario; el diseño dentro-nadador lo promedia, no lo elimina.</a:t>
            </a:r>
            <a:endParaRPr lang="en-US" sz="1050" dirty="0"/>
          </a:p>
        </p:txBody>
      </p:sp>
      <p:sp>
        <p:nvSpPr>
          <p:cNvPr id="8" name="Text 6"/>
          <p:cNvSpPr txBox="1"/>
          <p:nvPr/>
        </p:nvSpPr>
        <p:spPr>
          <a:xfrm>
            <a:off x="502920" y="2688336"/>
            <a:ext cx="201168" cy="256032"/>
          </a:xfrm>
          <a:prstGeom prst="rect">
            <a:avLst/>
          </a:prstGeom>
          <a:noFill/>
          <a:ln/>
        </p:spPr>
        <p:txBody>
          <a:bodyPr wrap="square" lIns="0" tIns="0" rIns="0" bIns="0" rtlCol="0" anchor="t"/>
          <a:lstStyle/>
          <a:p>
            <a:pPr indent="0" marL="0">
              <a:buNone/>
            </a:pPr>
            <a:r>
              <a:rPr lang="en-US" sz="1050" b="1" dirty="0">
                <a:solidFill>
                  <a:srgbClr val="5FA8CC"/>
                </a:solidFill>
                <a:latin typeface="Calibri" pitchFamily="34" charset="0"/>
                <a:ea typeface="Calibri" pitchFamily="34" charset="-122"/>
                <a:cs typeface="Calibri" pitchFamily="34" charset="-120"/>
              </a:rPr>
              <a:t>—</a:t>
            </a:r>
            <a:endParaRPr lang="en-US" sz="1050" dirty="0"/>
          </a:p>
        </p:txBody>
      </p:sp>
      <p:sp>
        <p:nvSpPr>
          <p:cNvPr id="9" name="Text 7"/>
          <p:cNvSpPr txBox="1"/>
          <p:nvPr/>
        </p:nvSpPr>
        <p:spPr>
          <a:xfrm>
            <a:off x="749808" y="2688336"/>
            <a:ext cx="3593592" cy="603504"/>
          </a:xfrm>
          <a:prstGeom prst="rect">
            <a:avLst/>
          </a:prstGeom>
          <a:noFill/>
          <a:ln/>
        </p:spPr>
        <p:txBody>
          <a:bodyPr wrap="square" lIns="0" tIns="0" rIns="0" bIns="0" rtlCol="0" anchor="t"/>
          <a:lstStyle/>
          <a:p>
            <a:pPr indent="0" marL="0">
              <a:lnSpc>
                <a:spcPct val="110000"/>
              </a:lnSpc>
              <a:buNone/>
            </a:pPr>
            <a:r>
              <a:rPr lang="en-US" sz="1050" dirty="0">
                <a:solidFill>
                  <a:srgbClr val="CFE3EE"/>
                </a:solidFill>
                <a:latin typeface="Calibri" pitchFamily="34" charset="0"/>
                <a:ea typeface="Calibri" pitchFamily="34" charset="-122"/>
                <a:cs typeface="Calibri" pitchFamily="34" charset="-120"/>
              </a:rPr>
              <a:t>Un solo año, 2024. Y los tiempos implausibles se conservan: no filtramos, para no recortar la muestra.</a:t>
            </a:r>
            <a:endParaRPr lang="en-US" sz="1050" dirty="0"/>
          </a:p>
        </p:txBody>
      </p:sp>
      <p:sp>
        <p:nvSpPr>
          <p:cNvPr id="10" name="Text 8"/>
          <p:cNvSpPr txBox="1"/>
          <p:nvPr/>
        </p:nvSpPr>
        <p:spPr>
          <a:xfrm>
            <a:off x="502920" y="3346704"/>
            <a:ext cx="201168" cy="256032"/>
          </a:xfrm>
          <a:prstGeom prst="rect">
            <a:avLst/>
          </a:prstGeom>
          <a:noFill/>
          <a:ln/>
        </p:spPr>
        <p:txBody>
          <a:bodyPr wrap="square" lIns="0" tIns="0" rIns="0" bIns="0" rtlCol="0" anchor="t"/>
          <a:lstStyle/>
          <a:p>
            <a:pPr indent="0" marL="0">
              <a:buNone/>
            </a:pPr>
            <a:r>
              <a:rPr lang="en-US" sz="1050" b="1" dirty="0">
                <a:solidFill>
                  <a:srgbClr val="5FA8CC"/>
                </a:solidFill>
                <a:latin typeface="Calibri" pitchFamily="34" charset="0"/>
                <a:ea typeface="Calibri" pitchFamily="34" charset="-122"/>
                <a:cs typeface="Calibri" pitchFamily="34" charset="-120"/>
              </a:rPr>
              <a:t>—</a:t>
            </a:r>
            <a:endParaRPr lang="en-US" sz="1050" dirty="0"/>
          </a:p>
        </p:txBody>
      </p:sp>
      <p:sp>
        <p:nvSpPr>
          <p:cNvPr id="11" name="Text 9"/>
          <p:cNvSpPr txBox="1"/>
          <p:nvPr/>
        </p:nvSpPr>
        <p:spPr>
          <a:xfrm>
            <a:off x="749808" y="3346704"/>
            <a:ext cx="3593592" cy="603504"/>
          </a:xfrm>
          <a:prstGeom prst="rect">
            <a:avLst/>
          </a:prstGeom>
          <a:noFill/>
          <a:ln/>
        </p:spPr>
        <p:txBody>
          <a:bodyPr wrap="square" lIns="0" tIns="0" rIns="0" bIns="0" rtlCol="0" anchor="t"/>
          <a:lstStyle/>
          <a:p>
            <a:pPr indent="0" marL="0">
              <a:lnSpc>
                <a:spcPct val="110000"/>
              </a:lnSpc>
              <a:buNone/>
            </a:pPr>
            <a:r>
              <a:rPr lang="en-US" sz="1050" dirty="0">
                <a:solidFill>
                  <a:srgbClr val="CFE3EE"/>
                </a:solidFill>
                <a:latin typeface="Calibri" pitchFamily="34" charset="0"/>
                <a:ea typeface="Calibri" pitchFamily="34" charset="-122"/>
                <a:cs typeface="Calibri" pitchFamily="34" charset="-120"/>
              </a:rPr>
              <a:t>El modelo es una asociación, no una causa: mide cuánta diferencia hay por vuelta, no que la vuelta sea lo único que la produce.</a:t>
            </a:r>
            <a:endParaRPr lang="en-US" sz="1050" dirty="0"/>
          </a:p>
        </p:txBody>
      </p:sp>
      <p:sp>
        <p:nvSpPr>
          <p:cNvPr id="12" name="Text 10"/>
          <p:cNvSpPr txBox="1"/>
          <p:nvPr/>
        </p:nvSpPr>
        <p:spPr>
          <a:xfrm>
            <a:off x="4800600" y="1024128"/>
            <a:ext cx="3840480" cy="274320"/>
          </a:xfrm>
          <a:prstGeom prst="rect">
            <a:avLst/>
          </a:prstGeom>
          <a:noFill/>
          <a:ln/>
        </p:spPr>
        <p:txBody>
          <a:bodyPr wrap="square" lIns="0" tIns="0" rIns="0" bIns="0" rtlCol="0" anchor="ctr"/>
          <a:lstStyle/>
          <a:p>
            <a:pPr indent="0" marL="0">
              <a:buNone/>
            </a:pPr>
            <a:r>
              <a:rPr lang="en-US" sz="1200" b="1" dirty="0">
                <a:solidFill>
                  <a:srgbClr val="9FC4D6"/>
                </a:solidFill>
                <a:latin typeface="Calibri" pitchFamily="34" charset="0"/>
                <a:ea typeface="Calibri" pitchFamily="34" charset="-122"/>
                <a:cs typeface="Calibri" pitchFamily="34" charset="-120"/>
              </a:rPr>
              <a:t>Qué sigue</a:t>
            </a:r>
            <a:endParaRPr lang="en-US" sz="1200" dirty="0"/>
          </a:p>
        </p:txBody>
      </p:sp>
      <p:sp>
        <p:nvSpPr>
          <p:cNvPr id="13" name="Text 11"/>
          <p:cNvSpPr txBox="1"/>
          <p:nvPr/>
        </p:nvSpPr>
        <p:spPr>
          <a:xfrm>
            <a:off x="4800600" y="1371600"/>
            <a:ext cx="384048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Informe escrito, viernes 25</a:t>
            </a:r>
            <a:endParaRPr lang="en-US" sz="1100" dirty="0"/>
          </a:p>
        </p:txBody>
      </p:sp>
      <p:sp>
        <p:nvSpPr>
          <p:cNvPr id="14" name="Text 12"/>
          <p:cNvSpPr txBox="1"/>
          <p:nvPr/>
        </p:nvSpPr>
        <p:spPr>
          <a:xfrm>
            <a:off x="4800600" y="1609344"/>
            <a:ext cx="3840480" cy="384048"/>
          </a:xfrm>
          <a:prstGeom prst="rect">
            <a:avLst/>
          </a:prstGeom>
          <a:noFill/>
          <a:ln/>
        </p:spPr>
        <p:txBody>
          <a:bodyPr wrap="square" lIns="0" tIns="0" rIns="0" bIns="0" rtlCol="0" anchor="ctr"/>
          <a:lstStyle/>
          <a:p>
            <a:pPr indent="0" marL="0">
              <a:lnSpc>
                <a:spcPct val="108000"/>
              </a:lnSpc>
              <a:buNone/>
            </a:pPr>
            <a:r>
              <a:rPr lang="en-US" sz="1000" dirty="0">
                <a:solidFill>
                  <a:srgbClr val="CFE3EE"/>
                </a:solidFill>
                <a:latin typeface="Calibri" pitchFamily="34" charset="0"/>
                <a:ea typeface="Calibri" pitchFamily="34" charset="-122"/>
                <a:cs typeface="Calibri" pitchFamily="34" charset="-120"/>
              </a:rPr>
              <a:t>con el modelo por estilo y sexo y el análisis de sensibilidad.</a:t>
            </a:r>
            <a:endParaRPr lang="en-US" sz="1000" dirty="0"/>
          </a:p>
        </p:txBody>
      </p:sp>
      <p:sp>
        <p:nvSpPr>
          <p:cNvPr id="15" name="Text 13"/>
          <p:cNvSpPr txBox="1"/>
          <p:nvPr/>
        </p:nvSpPr>
        <p:spPr>
          <a:xfrm>
            <a:off x="4800600" y="2029968"/>
            <a:ext cx="384048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Prueba de hipótesis formal</a:t>
            </a:r>
            <a:endParaRPr lang="en-US" sz="1100" dirty="0"/>
          </a:p>
        </p:txBody>
      </p:sp>
      <p:sp>
        <p:nvSpPr>
          <p:cNvPr id="16" name="Text 14"/>
          <p:cNvSpPr txBox="1"/>
          <p:nvPr/>
        </p:nvSpPr>
        <p:spPr>
          <a:xfrm>
            <a:off x="4800600" y="2267712"/>
            <a:ext cx="3840480" cy="384048"/>
          </a:xfrm>
          <a:prstGeom prst="rect">
            <a:avLst/>
          </a:prstGeom>
          <a:noFill/>
          <a:ln/>
        </p:spPr>
        <p:txBody>
          <a:bodyPr wrap="square" lIns="0" tIns="0" rIns="0" bIns="0" rtlCol="0" anchor="ctr"/>
          <a:lstStyle/>
          <a:p>
            <a:pPr indent="0" marL="0">
              <a:lnSpc>
                <a:spcPct val="108000"/>
              </a:lnSpc>
              <a:buNone/>
            </a:pPr>
            <a:r>
              <a:rPr lang="en-US" sz="1000" dirty="0">
                <a:solidFill>
                  <a:srgbClr val="CFE3EE"/>
                </a:solidFill>
                <a:latin typeface="Calibri" pitchFamily="34" charset="0"/>
                <a:ea typeface="Calibri" pitchFamily="34" charset="-122"/>
                <a:cs typeface="Calibri" pitchFamily="34" charset="-120"/>
              </a:rPr>
              <a:t>para la brecha entre sexos, con las herramientas de la clase 5.</a:t>
            </a:r>
            <a:endParaRPr lang="en-US" sz="1000" dirty="0"/>
          </a:p>
        </p:txBody>
      </p:sp>
      <p:sp>
        <p:nvSpPr>
          <p:cNvPr id="17" name="Text 15"/>
          <p:cNvSpPr txBox="1"/>
          <p:nvPr/>
        </p:nvSpPr>
        <p:spPr>
          <a:xfrm>
            <a:off x="4800600" y="2688336"/>
            <a:ext cx="384048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Regresión regularizada</a:t>
            </a:r>
            <a:endParaRPr lang="en-US" sz="1100" dirty="0"/>
          </a:p>
        </p:txBody>
      </p:sp>
      <p:sp>
        <p:nvSpPr>
          <p:cNvPr id="18" name="Text 16"/>
          <p:cNvSpPr txBox="1"/>
          <p:nvPr/>
        </p:nvSpPr>
        <p:spPr>
          <a:xfrm>
            <a:off x="4800600" y="2926080"/>
            <a:ext cx="3840480" cy="384048"/>
          </a:xfrm>
          <a:prstGeom prst="rect">
            <a:avLst/>
          </a:prstGeom>
          <a:noFill/>
          <a:ln/>
        </p:spPr>
        <p:txBody>
          <a:bodyPr wrap="square" lIns="0" tIns="0" rIns="0" bIns="0" rtlCol="0" anchor="ctr"/>
          <a:lstStyle/>
          <a:p>
            <a:pPr indent="0" marL="0">
              <a:lnSpc>
                <a:spcPct val="108000"/>
              </a:lnSpc>
              <a:buNone/>
            </a:pPr>
            <a:r>
              <a:rPr lang="en-US" sz="1000" dirty="0">
                <a:solidFill>
                  <a:srgbClr val="CFE3EE"/>
                </a:solidFill>
                <a:latin typeface="Calibri" pitchFamily="34" charset="0"/>
                <a:ea typeface="Calibri" pitchFamily="34" charset="-122"/>
                <a:cs typeface="Calibri" pitchFamily="34" charset="-120"/>
              </a:rPr>
              <a:t>para comprobar que nada dependa de las pruebas chicas (clase 7).</a:t>
            </a:r>
            <a:endParaRPr lang="en-US" sz="1000" dirty="0"/>
          </a:p>
        </p:txBody>
      </p:sp>
      <p:sp>
        <p:nvSpPr>
          <p:cNvPr id="19" name="Text 17"/>
          <p:cNvSpPr txBox="1"/>
          <p:nvPr/>
        </p:nvSpPr>
        <p:spPr>
          <a:xfrm>
            <a:off x="4800600" y="3346704"/>
            <a:ext cx="384048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Módulos siguientes</a:t>
            </a:r>
            <a:endParaRPr lang="en-US" sz="1100" dirty="0"/>
          </a:p>
        </p:txBody>
      </p:sp>
      <p:sp>
        <p:nvSpPr>
          <p:cNvPr id="20" name="Text 18"/>
          <p:cNvSpPr txBox="1"/>
          <p:nvPr/>
        </p:nvSpPr>
        <p:spPr>
          <a:xfrm>
            <a:off x="4800600" y="3584448"/>
            <a:ext cx="3840480" cy="384048"/>
          </a:xfrm>
          <a:prstGeom prst="rect">
            <a:avLst/>
          </a:prstGeom>
          <a:noFill/>
          <a:ln/>
        </p:spPr>
        <p:txBody>
          <a:bodyPr wrap="square" lIns="0" tIns="0" rIns="0" bIns="0" rtlCol="0" anchor="ctr"/>
          <a:lstStyle/>
          <a:p>
            <a:pPr indent="0" marL="0">
              <a:lnSpc>
                <a:spcPct val="108000"/>
              </a:lnSpc>
              <a:buNone/>
            </a:pPr>
            <a:r>
              <a:rPr lang="en-US" sz="1000" dirty="0">
                <a:solidFill>
                  <a:srgbClr val="CFE3EE"/>
                </a:solidFill>
                <a:latin typeface="Calibri" pitchFamily="34" charset="0"/>
                <a:ea typeface="Calibri" pitchFamily="34" charset="-122"/>
                <a:cs typeface="Calibri" pitchFamily="34" charset="-120"/>
              </a:rPr>
              <a:t>varias temporadas, para separar el efecto del calendario del de la piscina.</a:t>
            </a:r>
            <a:endParaRPr lang="en-US" sz="1000" dirty="0"/>
          </a:p>
        </p:txBody>
      </p:sp>
      <p:sp>
        <p:nvSpPr>
          <p:cNvPr id="21" name="Text 19"/>
          <p:cNvSpPr txBox="1"/>
          <p:nvPr/>
        </p:nvSpPr>
        <p:spPr>
          <a:xfrm>
            <a:off x="502920" y="4224528"/>
            <a:ext cx="8138160" cy="457200"/>
          </a:xfrm>
          <a:prstGeom prst="rect">
            <a:avLst/>
          </a:prstGeom>
          <a:noFill/>
          <a:ln/>
        </p:spPr>
        <p:txBody>
          <a:bodyPr wrap="square" lIns="0" tIns="0" rIns="0" bIns="0" rtlCol="0" anchor="ctr"/>
          <a:lstStyle/>
          <a:p>
            <a:pPr indent="0" marL="0">
              <a:lnSpc>
                <a:spcPct val="110000"/>
              </a:lnSpc>
              <a:buNone/>
            </a:pPr>
            <a:r>
              <a:rPr lang="en-US" sz="900" dirty="0">
                <a:solidFill>
                  <a:srgbClr val="9FC4D6"/>
                </a:solidFill>
                <a:latin typeface="Calibri" pitchFamily="34" charset="0"/>
                <a:ea typeface="Calibri" pitchFamily="34" charset="-122"/>
                <a:cs typeface="Calibri" pitchFamily="34" charset="-120"/>
              </a:rPr>
              <a:t>Felipe Leiva  ·  Javier Fuentes   ·   github.com/fleivadiaz/capstone-natacion   ·   Se usó IA (Claude, ChatGPT) para explorar la documentación de la API, discutir el diseño y revisar código.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natación — avance</dc:title>
  <dc:subject>PptxGenJS Presentation</dc:subject>
  <dc:creator>Felipe Leiva · Javier Fuentes</dc:creator>
  <cp:lastModifiedBy>Felipe Leiva · Javier Fuentes</cp:lastModifiedBy>
  <cp:revision>1</cp:revision>
  <dcterms:created xsi:type="dcterms:W3CDTF">2026-09-20T14:42:19Z</dcterms:created>
  <dcterms:modified xsi:type="dcterms:W3CDTF">2026-09-20T14:42:19Z</dcterms:modified>
</cp:coreProperties>
</file>