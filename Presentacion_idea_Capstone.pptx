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 en natación se compite en dos piscinas, 25 y 50 metros. La misma distancia en piscina corta obliga al doble de virajes, y cada viraje regala tiempo. La pregunta es si esa ventaja es la misma en todos los estilos. Importa porque World Aquatics acepta tiempos de ambas piscinas para clasificar a un campeonato, con una tabla de exigencias distinta para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API es pública y no pide clave, pero tiene dos límites que medimos: no pagina y devuelve como máximo 5.000 filas por consulta. Por eso pedimos la mejor marca del año de cada nadador y no todos sus nados. La muestra es la élite competitiva de cada prueba, no una muestra aleatoria, y así lo declaramos. El diagrama de caja muestra que el factor no es un número fijo sino una distribución: la mediana de espalda (4,5%) dobla a la de mariposa (2,1%), y dentro de cada estilo hay nadadores a los que la piscina corta les rinde mucho más que a otros. Eso es lo que hay que resumir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línea une dos números para la misma prueba: lo que la tabla oficial supone y lo que medimos. Donde la línea es larga, la exigencia no es equivalente entre piscinas. Hay diferencias hacia ambos lados, así que el problema no es que una piscina esté favorecida, sino que el ajuste no es consistente entre pruebas. El factor medido va de 1,5% a 5,2% según la prueba. Lo que viene usa lo del curso: histogramas y boxplot para ver la forma del factor, matriz de correlación, intervalos de confianza para el margen de error (clase 5) y una regresión de la diferencia de tiempo sobre el número de virajes extra —distancia dividida en 50— cuya pendiente es la ventaja por viraje (clase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02920" y="384048"/>
            <a:ext cx="8138160" cy="22860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Diplomado en Ciencia de Datos Aplicada · UTFSM · Módulo 1 · Presentación de la idea</a:t>
            </a:r>
            <a:endParaRPr lang="en-US" sz="1050" dirty="0"/>
          </a:p>
        </p:txBody>
      </p:sp>
      <p:sp>
        <p:nvSpPr>
          <p:cNvPr id="3" name="Text 1"/>
          <p:cNvSpPr txBox="1"/>
          <p:nvPr/>
        </p:nvSpPr>
        <p:spPr>
          <a:xfrm>
            <a:off x="502920" y="777240"/>
            <a:ext cx="8138160" cy="1234440"/>
          </a:xfrm>
          <a:prstGeom prst="rect">
            <a:avLst/>
          </a:prstGeom>
          <a:noFill/>
          <a:ln/>
        </p:spPr>
        <p:txBody>
          <a:bodyPr wrap="square" lIns="0" tIns="0" rIns="0" bIns="0" rtlCol="0" anchor="ctr"/>
          <a:lstStyle/>
          <a:p>
            <a:pPr indent="0" marL="0">
              <a:lnSpc>
                <a:spcPct val="105000"/>
              </a:lnSpc>
              <a:buNone/>
            </a:pPr>
            <a:r>
              <a:rPr lang="en-US" sz="3100" b="1" dirty="0">
                <a:solidFill>
                  <a:srgbClr val="FFFFFF"/>
                </a:solidFill>
                <a:latin typeface="Cambria" pitchFamily="34" charset="0"/>
                <a:ea typeface="Cambria" pitchFamily="34" charset="-122"/>
                <a:cs typeface="Cambria" pitchFamily="34" charset="-120"/>
              </a:rPr>
              <a:t>¿Es igual de difícil clasificar nadando en piscina de 25 metros que en una de 50?</a:t>
            </a:r>
            <a:endParaRPr lang="en-US" sz="3100" dirty="0"/>
          </a:p>
        </p:txBody>
      </p:sp>
      <p:sp>
        <p:nvSpPr>
          <p:cNvPr id="4" name="Text 2"/>
          <p:cNvSpPr txBox="1"/>
          <p:nvPr/>
        </p:nvSpPr>
        <p:spPr>
          <a:xfrm>
            <a:off x="502920" y="2121408"/>
            <a:ext cx="5486400" cy="777240"/>
          </a:xfrm>
          <a:prstGeom prst="rect">
            <a:avLst/>
          </a:prstGeom>
          <a:noFill/>
          <a:ln/>
        </p:spPr>
        <p:txBody>
          <a:bodyPr wrap="square" lIns="0" tIns="0" rIns="0" bIns="0" rtlCol="0" anchor="ctr"/>
          <a:lstStyle/>
          <a:p>
            <a:pPr indent="0" marL="0">
              <a:lnSpc>
                <a:spcPct val="120000"/>
              </a:lnSpc>
              <a:buNone/>
            </a:pPr>
            <a:r>
              <a:rPr lang="en-US" sz="1350" dirty="0">
                <a:solidFill>
                  <a:srgbClr val="C9D9E4"/>
                </a:solidFill>
                <a:latin typeface="Calibri" pitchFamily="34" charset="0"/>
                <a:ea typeface="Calibri" pitchFamily="34" charset="-122"/>
                <a:cs typeface="Calibri" pitchFamily="34" charset="-120"/>
              </a:rPr>
              <a:t>En piscina corta se dan el doble de vueltas, y cada vuelta regala tiempo. Medimos cuánto vale esa ventaja y si es la misma en todos los estilos y distancias.</a:t>
            </a:r>
            <a:endParaRPr lang="en-US" sz="1350" dirty="0"/>
          </a:p>
        </p:txBody>
      </p:sp>
      <p:sp>
        <p:nvSpPr>
          <p:cNvPr id="5" name="Text 3"/>
          <p:cNvSpPr txBox="1"/>
          <p:nvPr/>
        </p:nvSpPr>
        <p:spPr>
          <a:xfrm>
            <a:off x="502920" y="3063240"/>
            <a:ext cx="5486400" cy="228600"/>
          </a:xfrm>
          <a:prstGeom prst="rect">
            <a:avLst/>
          </a:prstGeom>
          <a:noFill/>
          <a:ln/>
        </p:spPr>
        <p:txBody>
          <a:bodyPr wrap="square" lIns="0" tIns="0" rIns="0" bIns="0" rtlCol="0" anchor="ctr"/>
          <a:lstStyle/>
          <a:p>
            <a:pPr indent="0" marL="0">
              <a:buNone/>
            </a:pPr>
            <a:r>
              <a:rPr lang="en-US" sz="1100" b="1" dirty="0">
                <a:solidFill>
                  <a:srgbClr val="EB6834"/>
                </a:solidFill>
                <a:latin typeface="Calibri" pitchFamily="34" charset="0"/>
                <a:ea typeface="Calibri" pitchFamily="34" charset="-122"/>
                <a:cs typeface="Calibri" pitchFamily="34" charset="-120"/>
              </a:rPr>
              <a:t>Hipótesis</a:t>
            </a:r>
            <a:endParaRPr lang="en-US" sz="1100" dirty="0"/>
          </a:p>
        </p:txBody>
      </p:sp>
      <p:sp>
        <p:nvSpPr>
          <p:cNvPr id="6" name="Text 4"/>
          <p:cNvSpPr txBox="1"/>
          <p:nvPr/>
        </p:nvSpPr>
        <p:spPr>
          <a:xfrm>
            <a:off x="502920" y="3310128"/>
            <a:ext cx="5486400" cy="731520"/>
          </a:xfrm>
          <a:prstGeom prst="rect">
            <a:avLst/>
          </a:prstGeom>
          <a:noFill/>
          <a:ln/>
        </p:spPr>
        <p:txBody>
          <a:bodyPr wrap="square" lIns="0" tIns="0" rIns="0" bIns="0" rtlCol="0" anchor="ctr"/>
          <a:lstStyle/>
          <a:p>
            <a:pPr indent="0" marL="0">
              <a:lnSpc>
                <a:spcPct val="120000"/>
              </a:lnSpc>
              <a:buNone/>
            </a:pPr>
            <a:r>
              <a:rPr lang="en-US" sz="1200" dirty="0">
                <a:solidFill>
                  <a:srgbClr val="C9D9E4"/>
                </a:solidFill>
                <a:latin typeface="Calibri" pitchFamily="34" charset="0"/>
                <a:ea typeface="Calibri" pitchFamily="34" charset="-122"/>
                <a:cs typeface="Calibri" pitchFamily="34" charset="-120"/>
              </a:rPr>
              <a:t>La ventaja por vuelta no es constante: depende del estilo, y es mayor en espalda y pecho, donde la fase subacuática es más ventajosa que el nado en superficie.</a:t>
            </a:r>
            <a:endParaRPr lang="en-US" sz="1200" dirty="0"/>
          </a:p>
        </p:txBody>
      </p:sp>
      <p:sp>
        <p:nvSpPr>
          <p:cNvPr id="7" name="Text 5"/>
          <p:cNvSpPr txBox="1"/>
          <p:nvPr/>
        </p:nvSpPr>
        <p:spPr>
          <a:xfrm>
            <a:off x="6263640" y="2286000"/>
            <a:ext cx="2377440" cy="685800"/>
          </a:xfrm>
          <a:prstGeom prst="rect">
            <a:avLst/>
          </a:prstGeom>
          <a:noFill/>
          <a:ln/>
        </p:spPr>
        <p:txBody>
          <a:bodyPr wrap="square" lIns="0" tIns="0" rIns="0" bIns="0" rtlCol="0" anchor="ctr"/>
          <a:lstStyle/>
          <a:p>
            <a:pPr algn="r" indent="0" marL="0">
              <a:buNone/>
            </a:pPr>
            <a:r>
              <a:rPr lang="en-US" sz="4000" b="1" dirty="0">
                <a:solidFill>
                  <a:srgbClr val="EB6834"/>
                </a:solidFill>
                <a:latin typeface="Cambria" pitchFamily="34" charset="0"/>
                <a:ea typeface="Cambria" pitchFamily="34" charset="-122"/>
                <a:cs typeface="Cambria" pitchFamily="34" charset="-120"/>
              </a:rPr>
              <a:t>30.257</a:t>
            </a:r>
            <a:endParaRPr lang="en-US" sz="4000" dirty="0"/>
          </a:p>
        </p:txBody>
      </p:sp>
      <p:sp>
        <p:nvSpPr>
          <p:cNvPr id="8" name="Text 6"/>
          <p:cNvSpPr txBox="1"/>
          <p:nvPr/>
        </p:nvSpPr>
        <p:spPr>
          <a:xfrm>
            <a:off x="6263640" y="3017520"/>
            <a:ext cx="2377440" cy="548640"/>
          </a:xfrm>
          <a:prstGeom prst="rect">
            <a:avLst/>
          </a:prstGeom>
          <a:noFill/>
          <a:ln/>
        </p:spPr>
        <p:txBody>
          <a:bodyPr wrap="square" lIns="0" tIns="0" rIns="0" bIns="0" rtlCol="0" anchor="ctr"/>
          <a:lstStyle/>
          <a:p>
            <a:pPr algn="r" indent="0" marL="0">
              <a:lnSpc>
                <a:spcPct val="115000"/>
              </a:lnSpc>
              <a:buNone/>
            </a:pPr>
            <a:r>
              <a:rPr lang="en-US" sz="1050" dirty="0">
                <a:solidFill>
                  <a:srgbClr val="C9D9E4"/>
                </a:solidFill>
                <a:latin typeface="Calibri" pitchFamily="34" charset="0"/>
                <a:ea typeface="Calibri" pitchFamily="34" charset="-122"/>
                <a:cs typeface="Calibri" pitchFamily="34" charset="-120"/>
              </a:rPr>
              <a:t>nadadores con marca en ambas piscinas durante la temporada 2024</a:t>
            </a:r>
            <a:endParaRPr lang="en-US" sz="1050" dirty="0"/>
          </a:p>
        </p:txBody>
      </p:sp>
      <p:sp>
        <p:nvSpPr>
          <p:cNvPr id="9" name="Text 7"/>
          <p:cNvSpPr txBox="1"/>
          <p:nvPr/>
        </p:nvSpPr>
        <p:spPr>
          <a:xfrm>
            <a:off x="502920" y="4370832"/>
            <a:ext cx="50292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Felipe Leiva Díaz  ·  Javier Fuentes</a:t>
            </a:r>
            <a:endParaRPr lang="en-US" sz="1250" dirty="0"/>
          </a:p>
        </p:txBody>
      </p:sp>
      <p:sp>
        <p:nvSpPr>
          <p:cNvPr id="10" name="Text 8"/>
          <p:cNvSpPr txBox="1"/>
          <p:nvPr/>
        </p:nvSpPr>
        <p:spPr>
          <a:xfrm>
            <a:off x="5029200" y="4370832"/>
            <a:ext cx="361188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3 de septiembre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900" b="1" dirty="0">
                <a:solidFill>
                  <a:srgbClr val="0F2A43"/>
                </a:solidFill>
                <a:latin typeface="Cambria" pitchFamily="34" charset="0"/>
                <a:ea typeface="Cambria" pitchFamily="34" charset="-122"/>
                <a:cs typeface="Cambria" pitchFamily="34" charset="-120"/>
              </a:rPr>
              <a:t>Los datos</a:t>
            </a:r>
            <a:endParaRPr lang="en-US" sz="29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250" dirty="0">
                <a:solidFill>
                  <a:srgbClr val="52626E"/>
                </a:solidFill>
                <a:latin typeface="Calibri" pitchFamily="34" charset="0"/>
                <a:ea typeface="Calibri" pitchFamily="34" charset="-122"/>
                <a:cs typeface="Calibri" pitchFamily="34" charset="-120"/>
              </a:rPr>
              <a:t>API pública de rankings de World Aquatics, temporada 2024 completa, más las marcas mínimas oficiales del Mundial de 25 m de Beijing 2026.</a:t>
            </a:r>
            <a:endParaRPr lang="en-US" sz="1250" dirty="0"/>
          </a:p>
        </p:txBody>
      </p:sp>
      <p:sp>
        <p:nvSpPr>
          <p:cNvPr id="4" name="Shape 2"/>
          <p:cNvSpPr/>
          <p:nvPr/>
        </p:nvSpPr>
        <p:spPr>
          <a:xfrm>
            <a:off x="457200" y="1280160"/>
            <a:ext cx="1906524" cy="914400"/>
          </a:xfrm>
          <a:prstGeom prst="roundRect">
            <a:avLst>
              <a:gd name="adj" fmla="val 8000"/>
            </a:avLst>
          </a:prstGeom>
          <a:solidFill>
            <a:srgbClr val="F1F6F9"/>
          </a:solidFill>
          <a:ln w="12700">
            <a:solidFill>
              <a:srgbClr val="F1F6F9"/>
            </a:solidFill>
            <a:prstDash val="solid"/>
          </a:ln>
        </p:spPr>
      </p:sp>
      <p:sp>
        <p:nvSpPr>
          <p:cNvPr id="5" name="Text 3"/>
          <p:cNvSpPr txBox="1"/>
          <p:nvPr/>
        </p:nvSpPr>
        <p:spPr>
          <a:xfrm>
            <a:off x="457200" y="1353312"/>
            <a:ext cx="1906524" cy="411480"/>
          </a:xfrm>
          <a:prstGeom prst="rect">
            <a:avLst/>
          </a:prstGeom>
          <a:noFill/>
          <a:ln/>
        </p:spPr>
        <p:txBody>
          <a:bodyPr wrap="square" lIns="0" tIns="0" rIns="0" bIns="0" rtlCol="0" anchor="ctr"/>
          <a:lstStyle/>
          <a:p>
            <a:pPr algn="ctr" indent="0" marL="0">
              <a:buNone/>
            </a:pPr>
            <a:r>
              <a:rPr lang="en-US" sz="2200" b="1" dirty="0">
                <a:solidFill>
                  <a:srgbClr val="0F2A43"/>
                </a:solidFill>
                <a:latin typeface="Cambria" pitchFamily="34" charset="0"/>
                <a:ea typeface="Cambria" pitchFamily="34" charset="-122"/>
                <a:cs typeface="Cambria" pitchFamily="34" charset="-120"/>
              </a:rPr>
              <a:t>193.142</a:t>
            </a:r>
            <a:endParaRPr lang="en-US" sz="2200" dirty="0"/>
          </a:p>
        </p:txBody>
      </p:sp>
      <p:sp>
        <p:nvSpPr>
          <p:cNvPr id="6" name="Text 4"/>
          <p:cNvSpPr txBox="1"/>
          <p:nvPr/>
        </p:nvSpPr>
        <p:spPr>
          <a:xfrm>
            <a:off x="548640" y="1773936"/>
            <a:ext cx="1723644" cy="310896"/>
          </a:xfrm>
          <a:prstGeom prst="rect">
            <a:avLst/>
          </a:prstGeom>
          <a:noFill/>
          <a:ln/>
        </p:spPr>
        <p:txBody>
          <a:bodyPr wrap="square" lIns="0" tIns="0" rIns="0" bIns="0" rtlCol="0" anchor="ctr"/>
          <a:lstStyle/>
          <a:p>
            <a:pPr algn="ctr" indent="0" marL="0">
              <a:buNone/>
            </a:pPr>
            <a:r>
              <a:rPr lang="en-US" sz="1000" dirty="0">
                <a:solidFill>
                  <a:srgbClr val="52626E"/>
                </a:solidFill>
                <a:latin typeface="Calibri" pitchFamily="34" charset="0"/>
                <a:ea typeface="Calibri" pitchFamily="34" charset="-122"/>
                <a:cs typeface="Calibri" pitchFamily="34" charset="-120"/>
              </a:rPr>
              <a:t>nados descargados</a:t>
            </a:r>
            <a:endParaRPr lang="en-US" sz="1000" dirty="0"/>
          </a:p>
        </p:txBody>
      </p:sp>
      <p:sp>
        <p:nvSpPr>
          <p:cNvPr id="7" name="Shape 5"/>
          <p:cNvSpPr/>
          <p:nvPr/>
        </p:nvSpPr>
        <p:spPr>
          <a:xfrm>
            <a:off x="2564892" y="1280160"/>
            <a:ext cx="1906524" cy="914400"/>
          </a:xfrm>
          <a:prstGeom prst="roundRect">
            <a:avLst>
              <a:gd name="adj" fmla="val 8000"/>
            </a:avLst>
          </a:prstGeom>
          <a:solidFill>
            <a:srgbClr val="F1F6F9"/>
          </a:solidFill>
          <a:ln w="12700">
            <a:solidFill>
              <a:srgbClr val="F1F6F9"/>
            </a:solidFill>
            <a:prstDash val="solid"/>
          </a:ln>
        </p:spPr>
      </p:sp>
      <p:sp>
        <p:nvSpPr>
          <p:cNvPr id="8" name="Text 6"/>
          <p:cNvSpPr txBox="1"/>
          <p:nvPr/>
        </p:nvSpPr>
        <p:spPr>
          <a:xfrm>
            <a:off x="2564892" y="1353312"/>
            <a:ext cx="1906524" cy="411480"/>
          </a:xfrm>
          <a:prstGeom prst="rect">
            <a:avLst/>
          </a:prstGeom>
          <a:noFill/>
          <a:ln/>
        </p:spPr>
        <p:txBody>
          <a:bodyPr wrap="square" lIns="0" tIns="0" rIns="0" bIns="0" rtlCol="0" anchor="ctr"/>
          <a:lstStyle/>
          <a:p>
            <a:pPr algn="ctr" indent="0" marL="0">
              <a:buNone/>
            </a:pPr>
            <a:r>
              <a:rPr lang="en-US" sz="2200" b="1" dirty="0">
                <a:solidFill>
                  <a:srgbClr val="0F2A43"/>
                </a:solidFill>
                <a:latin typeface="Cambria" pitchFamily="34" charset="0"/>
                <a:ea typeface="Cambria" pitchFamily="34" charset="-122"/>
                <a:cs typeface="Cambria" pitchFamily="34" charset="-120"/>
              </a:rPr>
              <a:t>56.035</a:t>
            </a:r>
            <a:endParaRPr lang="en-US" sz="2200" dirty="0"/>
          </a:p>
        </p:txBody>
      </p:sp>
      <p:sp>
        <p:nvSpPr>
          <p:cNvPr id="9" name="Text 7"/>
          <p:cNvSpPr txBox="1"/>
          <p:nvPr/>
        </p:nvSpPr>
        <p:spPr>
          <a:xfrm>
            <a:off x="2656332" y="1773936"/>
            <a:ext cx="1723644" cy="310896"/>
          </a:xfrm>
          <a:prstGeom prst="rect">
            <a:avLst/>
          </a:prstGeom>
          <a:noFill/>
          <a:ln/>
        </p:spPr>
        <p:txBody>
          <a:bodyPr wrap="square" lIns="0" tIns="0" rIns="0" bIns="0" rtlCol="0" anchor="ctr"/>
          <a:lstStyle/>
          <a:p>
            <a:pPr algn="ctr" indent="0" marL="0">
              <a:buNone/>
            </a:pPr>
            <a:r>
              <a:rPr lang="en-US" sz="1000" dirty="0">
                <a:solidFill>
                  <a:srgbClr val="52626E"/>
                </a:solidFill>
                <a:latin typeface="Calibri" pitchFamily="34" charset="0"/>
                <a:ea typeface="Calibri" pitchFamily="34" charset="-122"/>
                <a:cs typeface="Calibri" pitchFamily="34" charset="-120"/>
              </a:rPr>
              <a:t>nadadores distintos</a:t>
            </a:r>
            <a:endParaRPr lang="en-US" sz="1000" dirty="0"/>
          </a:p>
        </p:txBody>
      </p:sp>
      <p:sp>
        <p:nvSpPr>
          <p:cNvPr id="10" name="Shape 8"/>
          <p:cNvSpPr/>
          <p:nvPr/>
        </p:nvSpPr>
        <p:spPr>
          <a:xfrm>
            <a:off x="4672584" y="1280160"/>
            <a:ext cx="1906524" cy="914400"/>
          </a:xfrm>
          <a:prstGeom prst="roundRect">
            <a:avLst>
              <a:gd name="adj" fmla="val 8000"/>
            </a:avLst>
          </a:prstGeom>
          <a:solidFill>
            <a:srgbClr val="F1F6F9"/>
          </a:solidFill>
          <a:ln w="12700">
            <a:solidFill>
              <a:srgbClr val="F1F6F9"/>
            </a:solidFill>
            <a:prstDash val="solid"/>
          </a:ln>
        </p:spPr>
      </p:sp>
      <p:sp>
        <p:nvSpPr>
          <p:cNvPr id="11" name="Text 9"/>
          <p:cNvSpPr txBox="1"/>
          <p:nvPr/>
        </p:nvSpPr>
        <p:spPr>
          <a:xfrm>
            <a:off x="4672584" y="1353312"/>
            <a:ext cx="1906524" cy="411480"/>
          </a:xfrm>
          <a:prstGeom prst="rect">
            <a:avLst/>
          </a:prstGeom>
          <a:noFill/>
          <a:ln/>
        </p:spPr>
        <p:txBody>
          <a:bodyPr wrap="square" lIns="0" tIns="0" rIns="0" bIns="0" rtlCol="0" anchor="ctr"/>
          <a:lstStyle/>
          <a:p>
            <a:pPr algn="ctr" indent="0" marL="0">
              <a:buNone/>
            </a:pPr>
            <a:r>
              <a:rPr lang="en-US" sz="2200" b="1" dirty="0">
                <a:solidFill>
                  <a:srgbClr val="0F2A43"/>
                </a:solidFill>
                <a:latin typeface="Cambria" pitchFamily="34" charset="0"/>
                <a:ea typeface="Cambria" pitchFamily="34" charset="-122"/>
                <a:cs typeface="Cambria" pitchFamily="34" charset="-120"/>
              </a:rPr>
              <a:t>201</a:t>
            </a:r>
            <a:endParaRPr lang="en-US" sz="2200" dirty="0"/>
          </a:p>
        </p:txBody>
      </p:sp>
      <p:sp>
        <p:nvSpPr>
          <p:cNvPr id="12" name="Text 10"/>
          <p:cNvSpPr txBox="1"/>
          <p:nvPr/>
        </p:nvSpPr>
        <p:spPr>
          <a:xfrm>
            <a:off x="4764024" y="1773936"/>
            <a:ext cx="1723644" cy="310896"/>
          </a:xfrm>
          <a:prstGeom prst="rect">
            <a:avLst/>
          </a:prstGeom>
          <a:noFill/>
          <a:ln/>
        </p:spPr>
        <p:txBody>
          <a:bodyPr wrap="square" lIns="0" tIns="0" rIns="0" bIns="0" rtlCol="0" anchor="ctr"/>
          <a:lstStyle/>
          <a:p>
            <a:pPr algn="ctr" indent="0" marL="0">
              <a:buNone/>
            </a:pPr>
            <a:r>
              <a:rPr lang="en-US" sz="1000" dirty="0">
                <a:solidFill>
                  <a:srgbClr val="52626E"/>
                </a:solidFill>
                <a:latin typeface="Calibri" pitchFamily="34" charset="0"/>
                <a:ea typeface="Calibri" pitchFamily="34" charset="-122"/>
                <a:cs typeface="Calibri" pitchFamily="34" charset="-120"/>
              </a:rPr>
              <a:t>países, 306 torneos</a:t>
            </a:r>
            <a:endParaRPr lang="en-US" sz="1000" dirty="0"/>
          </a:p>
        </p:txBody>
      </p:sp>
      <p:sp>
        <p:nvSpPr>
          <p:cNvPr id="13" name="Shape 11"/>
          <p:cNvSpPr/>
          <p:nvPr/>
        </p:nvSpPr>
        <p:spPr>
          <a:xfrm>
            <a:off x="6780276" y="1280160"/>
            <a:ext cx="1906524" cy="914400"/>
          </a:xfrm>
          <a:prstGeom prst="roundRect">
            <a:avLst>
              <a:gd name="adj" fmla="val 8000"/>
            </a:avLst>
          </a:prstGeom>
          <a:solidFill>
            <a:srgbClr val="F1F6F9"/>
          </a:solidFill>
          <a:ln w="12700">
            <a:solidFill>
              <a:srgbClr val="F1F6F9"/>
            </a:solidFill>
            <a:prstDash val="solid"/>
          </a:ln>
        </p:spPr>
      </p:sp>
      <p:sp>
        <p:nvSpPr>
          <p:cNvPr id="14" name="Text 12"/>
          <p:cNvSpPr txBox="1"/>
          <p:nvPr/>
        </p:nvSpPr>
        <p:spPr>
          <a:xfrm>
            <a:off x="6780276" y="1353312"/>
            <a:ext cx="1906524" cy="411480"/>
          </a:xfrm>
          <a:prstGeom prst="rect">
            <a:avLst/>
          </a:prstGeom>
          <a:noFill/>
          <a:ln/>
        </p:spPr>
        <p:txBody>
          <a:bodyPr wrap="square" lIns="0" tIns="0" rIns="0" bIns="0" rtlCol="0" anchor="ctr"/>
          <a:lstStyle/>
          <a:p>
            <a:pPr algn="ctr" indent="0" marL="0">
              <a:buNone/>
            </a:pPr>
            <a:r>
              <a:rPr lang="en-US" sz="2200" b="1" dirty="0">
                <a:solidFill>
                  <a:srgbClr val="0F2A43"/>
                </a:solidFill>
                <a:latin typeface="Cambria" pitchFamily="34" charset="0"/>
                <a:ea typeface="Cambria" pitchFamily="34" charset="-122"/>
                <a:cs typeface="Cambria" pitchFamily="34" charset="-120"/>
              </a:rPr>
              <a:t>30.257</a:t>
            </a:r>
            <a:endParaRPr lang="en-US" sz="2200" dirty="0"/>
          </a:p>
        </p:txBody>
      </p:sp>
      <p:sp>
        <p:nvSpPr>
          <p:cNvPr id="15" name="Text 13"/>
          <p:cNvSpPr txBox="1"/>
          <p:nvPr/>
        </p:nvSpPr>
        <p:spPr>
          <a:xfrm>
            <a:off x="6871716" y="1773936"/>
            <a:ext cx="1723644" cy="310896"/>
          </a:xfrm>
          <a:prstGeom prst="rect">
            <a:avLst/>
          </a:prstGeom>
          <a:noFill/>
          <a:ln/>
        </p:spPr>
        <p:txBody>
          <a:bodyPr wrap="square" lIns="0" tIns="0" rIns="0" bIns="0" rtlCol="0" anchor="ctr"/>
          <a:lstStyle/>
          <a:p>
            <a:pPr algn="ctr" indent="0" marL="0">
              <a:buNone/>
            </a:pPr>
            <a:r>
              <a:rPr lang="en-US" sz="1000" dirty="0">
                <a:solidFill>
                  <a:srgbClr val="52626E"/>
                </a:solidFill>
                <a:latin typeface="Calibri" pitchFamily="34" charset="0"/>
                <a:ea typeface="Calibri" pitchFamily="34" charset="-122"/>
                <a:cs typeface="Calibri" pitchFamily="34" charset="-120"/>
              </a:rPr>
              <a:t>pares 25 m ↔ 50 m</a:t>
            </a:r>
            <a:endParaRPr lang="en-US" sz="1000" dirty="0"/>
          </a:p>
        </p:txBody>
      </p:sp>
      <p:sp>
        <p:nvSpPr>
          <p:cNvPr id="16" name="Text 14"/>
          <p:cNvSpPr txBox="1"/>
          <p:nvPr/>
        </p:nvSpPr>
        <p:spPr>
          <a:xfrm>
            <a:off x="457200" y="2359152"/>
            <a:ext cx="3931920" cy="237744"/>
          </a:xfrm>
          <a:prstGeom prst="rect">
            <a:avLst/>
          </a:prstGeom>
          <a:noFill/>
          <a:ln/>
        </p:spPr>
        <p:txBody>
          <a:bodyPr wrap="square" lIns="0" tIns="0" rIns="0" bIns="0" rtlCol="0" anchor="ctr"/>
          <a:lstStyle/>
          <a:p>
            <a:pPr indent="0" marL="0">
              <a:buNone/>
            </a:pPr>
            <a:r>
              <a:rPr lang="en-US" sz="1250" b="1" dirty="0">
                <a:solidFill>
                  <a:srgbClr val="EB6834"/>
                </a:solidFill>
                <a:latin typeface="Calibri" pitchFamily="34" charset="0"/>
                <a:ea typeface="Calibri" pitchFamily="34" charset="-122"/>
                <a:cs typeface="Calibri" pitchFamily="34" charset="-120"/>
              </a:rPr>
              <a:t>El diseño</a:t>
            </a:r>
            <a:endParaRPr lang="en-US" sz="1250" dirty="0"/>
          </a:p>
        </p:txBody>
      </p:sp>
      <p:sp>
        <p:nvSpPr>
          <p:cNvPr id="17" name="Text 15"/>
          <p:cNvSpPr txBox="1"/>
          <p:nvPr/>
        </p:nvSpPr>
        <p:spPr>
          <a:xfrm>
            <a:off x="457200" y="2615184"/>
            <a:ext cx="3931920" cy="868680"/>
          </a:xfrm>
          <a:prstGeom prst="rect">
            <a:avLst/>
          </a:prstGeom>
          <a:noFill/>
          <a:ln/>
        </p:spPr>
        <p:txBody>
          <a:bodyPr wrap="square" lIns="0" tIns="0" rIns="0" bIns="0" rtlCol="0" anchor="ctr"/>
          <a:lstStyle/>
          <a:p>
            <a:pPr indent="0" marL="0">
              <a:lnSpc>
                <a:spcPct val="120000"/>
              </a:lnSpc>
              <a:buNone/>
            </a:pPr>
            <a:r>
              <a:rPr lang="en-US" sz="1100" dirty="0">
                <a:solidFill>
                  <a:srgbClr val="12212E"/>
                </a:solidFill>
                <a:latin typeface="Calibri" pitchFamily="34" charset="0"/>
                <a:ea typeface="Calibri" pitchFamily="34" charset="-122"/>
                <a:cs typeface="Calibri" pitchFamily="34" charset="-120"/>
              </a:rPr>
              <a:t>Cada nadador se compara consigo mismo: su mejor marca del año en cada piscina. Eso deja fuera el talento, la edad y el entrenamiento sin controlarlos estadísticamente.</a:t>
            </a:r>
            <a:endParaRPr lang="en-US" sz="1100" dirty="0"/>
          </a:p>
        </p:txBody>
      </p:sp>
      <p:sp>
        <p:nvSpPr>
          <p:cNvPr id="18" name="Text 16"/>
          <p:cNvSpPr txBox="1"/>
          <p:nvPr/>
        </p:nvSpPr>
        <p:spPr>
          <a:xfrm>
            <a:off x="457200" y="3474720"/>
            <a:ext cx="3931920" cy="23774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Lo que revisamos</a:t>
            </a:r>
            <a:endParaRPr lang="en-US" sz="1250" dirty="0"/>
          </a:p>
        </p:txBody>
      </p:sp>
      <p:sp>
        <p:nvSpPr>
          <p:cNvPr id="19" name="Text 17"/>
          <p:cNvSpPr txBox="1"/>
          <p:nvPr/>
        </p:nvSpPr>
        <p:spPr>
          <a:xfrm>
            <a:off x="457200" y="3730752"/>
            <a:ext cx="3931920" cy="914400"/>
          </a:xfrm>
          <a:prstGeom prst="rect">
            <a:avLst/>
          </a:prstGeom>
          <a:noFill/>
          <a:ln/>
        </p:spPr>
        <p:txBody>
          <a:bodyPr wrap="square" lIns="0" tIns="0" rIns="0" bIns="0" rtlCol="0" anchor="ctr"/>
          <a:lstStyle/>
          <a:p>
            <a:pPr indent="0" marL="0">
              <a:lnSpc>
                <a:spcPct val="120000"/>
              </a:lnSpc>
              <a:buNone/>
            </a:pPr>
            <a:r>
              <a:rPr lang="en-US" sz="1100" dirty="0">
                <a:solidFill>
                  <a:srgbClr val="12212E"/>
                </a:solidFill>
                <a:latin typeface="Calibri" pitchFamily="34" charset="0"/>
                <a:ea typeface="Calibri" pitchFamily="34" charset="-122"/>
                <a:cs typeface="Calibri" pitchFamily="34" charset="-120"/>
              </a:rPr>
              <a:t>Sin duplicados ni tiempos inválidos. Aparecieron edades imposibles, un club llamado “No” en el 15,8% de las filas y dos identificadores que la fuente repite entre carreras distintas. Ninguno afecta el análisis.</a:t>
            </a:r>
            <a:endParaRPr lang="en-US" sz="1100" dirty="0"/>
          </a:p>
        </p:txBody>
      </p:sp>
      <p:sp>
        <p:nvSpPr>
          <p:cNvPr id="20" name="Text 18"/>
          <p:cNvSpPr txBox="1"/>
          <p:nvPr/>
        </p:nvSpPr>
        <p:spPr>
          <a:xfrm>
            <a:off x="4754880" y="2359152"/>
            <a:ext cx="393192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El factor no es un número único</a:t>
            </a:r>
            <a:endParaRPr lang="en-US" sz="1250" dirty="0"/>
          </a:p>
        </p:txBody>
      </p:sp>
      <p:pic>
        <p:nvPicPr>
          <p:cNvPr id="21" name="Image 0" descr="/home/claude/figura_dispersion.png">    </p:cNvPr>
          <p:cNvPicPr>
            <a:picLocks noChangeAspect="1"/>
          </p:cNvPicPr>
          <p:nvPr/>
        </p:nvPicPr>
        <p:blipFill>
          <a:blip r:embed="rId1"/>
          <a:stretch>
            <a:fillRect/>
          </a:stretch>
        </p:blipFill>
        <p:spPr>
          <a:xfrm>
            <a:off x="4754880" y="2615184"/>
            <a:ext cx="3840480" cy="2084832"/>
          </a:xfrm>
          <a:prstGeom prst="rect">
            <a:avLst/>
          </a:prstGeom>
        </p:spPr>
      </p:pic>
      <p:sp>
        <p:nvSpPr>
          <p:cNvPr id="22" name="Text 19"/>
          <p:cNvSpPr txBox="1"/>
          <p:nvPr/>
        </p:nvSpPr>
        <p:spPr>
          <a:xfrm>
            <a:off x="457200" y="4718304"/>
            <a:ext cx="8229600" cy="256032"/>
          </a:xfrm>
          <a:prstGeom prst="rect">
            <a:avLst/>
          </a:prstGeom>
          <a:noFill/>
          <a:ln/>
        </p:spPr>
        <p:txBody>
          <a:bodyPr wrap="square" lIns="0" tIns="0" rIns="0" bIns="0" rtlCol="0" anchor="ctr"/>
          <a:lstStyle/>
          <a:p>
            <a:pPr indent="0" marL="0">
              <a:buNone/>
            </a:pPr>
            <a:r>
              <a:rPr lang="en-US" sz="900" dirty="0">
                <a:solidFill>
                  <a:srgbClr val="8A97A0"/>
                </a:solidFill>
                <a:latin typeface="Calibri" pitchFamily="34" charset="0"/>
                <a:ea typeface="Calibri" pitchFamily="34" charset="-122"/>
                <a:cs typeface="Calibri" pitchFamily="34" charset="-120"/>
              </a:rPr>
              <a:t>Fuente: API pública de rankings de World Aquatics · Marcas mínimas del Mundial de 25 m, Beijing 2026 (resources.fina.org). Uso académico, sin redistribución de los datos.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411480"/>
          </a:xfrm>
          <a:prstGeom prst="rect">
            <a:avLst/>
          </a:prstGeom>
          <a:noFill/>
          <a:ln/>
        </p:spPr>
        <p:txBody>
          <a:bodyPr wrap="square" lIns="0" tIns="0" rIns="0" bIns="0" rtlCol="0" anchor="ctr"/>
          <a:lstStyle/>
          <a:p>
            <a:pPr indent="0" marL="0">
              <a:buNone/>
            </a:pPr>
            <a:r>
              <a:rPr lang="en-US" sz="2400" b="1" dirty="0">
                <a:solidFill>
                  <a:srgbClr val="0F2A43"/>
                </a:solidFill>
                <a:latin typeface="Cambria" pitchFamily="34" charset="0"/>
                <a:ea typeface="Cambria" pitchFamily="34" charset="-122"/>
                <a:cs typeface="Cambria" pitchFamily="34" charset="-120"/>
              </a:rPr>
              <a:t>La equivalencia oficial se desvía hasta 2,9 segundos</a:t>
            </a:r>
            <a:endParaRPr lang="en-US" sz="2400" dirty="0"/>
          </a:p>
        </p:txBody>
      </p:sp>
      <p:sp>
        <p:nvSpPr>
          <p:cNvPr id="3" name="Text 1"/>
          <p:cNvSpPr txBox="1"/>
          <p:nvPr/>
        </p:nvSpPr>
        <p:spPr>
          <a:xfrm>
            <a:off x="457200" y="658368"/>
            <a:ext cx="8229600" cy="420624"/>
          </a:xfrm>
          <a:prstGeom prst="rect">
            <a:avLst/>
          </a:prstGeom>
          <a:noFill/>
          <a:ln/>
        </p:spPr>
        <p:txBody>
          <a:bodyPr wrap="square" lIns="0" tIns="0" rIns="0" bIns="0" rtlCol="0" anchor="ctr"/>
          <a:lstStyle/>
          <a:p>
            <a:pPr indent="0" marL="0">
              <a:lnSpc>
                <a:spcPct val="115000"/>
              </a:lnSpc>
              <a:buNone/>
            </a:pPr>
            <a:r>
              <a:rPr lang="en-US" sz="1100" b="1" dirty="0">
                <a:solidFill>
                  <a:srgbClr val="EB6834"/>
                </a:solidFill>
                <a:latin typeface="Calibri" pitchFamily="34" charset="0"/>
                <a:ea typeface="Calibri" pitchFamily="34" charset="-122"/>
                <a:cs typeface="Calibri" pitchFamily="34" charset="-120"/>
              </a:rPr>
              <a:t>Naranja: </a:t>
            </a:r>
            <a:pPr indent="0" marL="0">
              <a:lnSpc>
                <a:spcPct val="115000"/>
              </a:lnSpc>
              <a:buNone/>
            </a:pPr>
            <a:r>
              <a:rPr lang="en-US" sz="1100" dirty="0">
                <a:solidFill>
                  <a:srgbClr val="52626E"/>
                </a:solidFill>
                <a:latin typeface="Calibri" pitchFamily="34" charset="0"/>
                <a:ea typeface="Calibri" pitchFamily="34" charset="-122"/>
                <a:cs typeface="Calibri" pitchFamily="34" charset="-120"/>
              </a:rPr>
              <a:t>cuánto más lenta supone World Aquatics que es la piscina de 50 m, al pedir una marca distinta en cada una.   </a:t>
            </a:r>
            <a:pPr indent="0" marL="0">
              <a:lnSpc>
                <a:spcPct val="115000"/>
              </a:lnSpc>
              <a:buNone/>
            </a:pPr>
            <a:r>
              <a:rPr lang="en-US" sz="1100" b="1" dirty="0">
                <a:solidFill>
                  <a:srgbClr val="2A78D6"/>
                </a:solidFill>
                <a:latin typeface="Calibri" pitchFamily="34" charset="0"/>
                <a:ea typeface="Calibri" pitchFamily="34" charset="-122"/>
                <a:cs typeface="Calibri" pitchFamily="34" charset="-120"/>
              </a:rPr>
              <a:t>Azul: </a:t>
            </a:r>
            <a:pPr indent="0" marL="0">
              <a:lnSpc>
                <a:spcPct val="115000"/>
              </a:lnSpc>
              <a:buNone/>
            </a:pPr>
            <a:r>
              <a:rPr lang="en-US" sz="1100" dirty="0">
                <a:solidFill>
                  <a:srgbClr val="52626E"/>
                </a:solidFill>
                <a:latin typeface="Calibri" pitchFamily="34" charset="0"/>
                <a:ea typeface="Calibri" pitchFamily="34" charset="-122"/>
                <a:cs typeface="Calibri" pitchFamily="34" charset="-120"/>
              </a:rPr>
              <a:t>cuánto más lento nadan de verdad los 30.257 que compitieron en ambas.</a:t>
            </a:r>
            <a:endParaRPr lang="en-US" sz="1100" dirty="0"/>
          </a:p>
        </p:txBody>
      </p:sp>
      <p:pic>
        <p:nvPicPr>
          <p:cNvPr id="4" name="Image 0" descr="/home/claude/figura_slide.png">    </p:cNvPr>
          <p:cNvPicPr>
            <a:picLocks noChangeAspect="1"/>
          </p:cNvPicPr>
          <p:nvPr/>
        </p:nvPicPr>
        <p:blipFill>
          <a:blip r:embed="rId1"/>
          <a:stretch>
            <a:fillRect/>
          </a:stretch>
        </p:blipFill>
        <p:spPr>
          <a:xfrm>
            <a:off x="1097280" y="1078992"/>
            <a:ext cx="6949440" cy="2871216"/>
          </a:xfrm>
          <a:prstGeom prst="rect">
            <a:avLst/>
          </a:prstGeom>
        </p:spPr>
      </p:pic>
      <p:sp>
        <p:nvSpPr>
          <p:cNvPr id="5" name="Text 2"/>
          <p:cNvSpPr txBox="1"/>
          <p:nvPr/>
        </p:nvSpPr>
        <p:spPr>
          <a:xfrm>
            <a:off x="457200" y="4041648"/>
            <a:ext cx="8229600" cy="219456"/>
          </a:xfrm>
          <a:prstGeom prst="rect">
            <a:avLst/>
          </a:prstGeom>
          <a:noFill/>
          <a:ln/>
        </p:spPr>
        <p:txBody>
          <a:bodyPr wrap="square" lIns="0" tIns="0" rIns="0" bIns="0" rtlCol="0" anchor="ctr"/>
          <a:lstStyle/>
          <a:p>
            <a:pPr indent="0" marL="0">
              <a:buNone/>
            </a:pPr>
            <a:r>
              <a:rPr lang="en-US" sz="1100" b="1" dirty="0">
                <a:solidFill>
                  <a:srgbClr val="0F2A43"/>
                </a:solidFill>
                <a:latin typeface="Calibri" pitchFamily="34" charset="0"/>
                <a:ea typeface="Calibri" pitchFamily="34" charset="-122"/>
                <a:cs typeface="Calibri" pitchFamily="34" charset="-120"/>
              </a:rPr>
              <a:t>Lo que viene, con las herramientas del curso</a:t>
            </a:r>
            <a:endParaRPr lang="en-US" sz="1100" dirty="0"/>
          </a:p>
        </p:txBody>
      </p:sp>
      <p:sp>
        <p:nvSpPr>
          <p:cNvPr id="6" name="Text 3"/>
          <p:cNvSpPr txBox="1"/>
          <p:nvPr/>
        </p:nvSpPr>
        <p:spPr>
          <a:xfrm>
            <a:off x="457200" y="4279392"/>
            <a:ext cx="1920240" cy="566928"/>
          </a:xfrm>
          <a:prstGeom prst="rect">
            <a:avLst/>
          </a:prstGeom>
          <a:noFill/>
          <a:ln/>
        </p:spPr>
        <p:txBody>
          <a:bodyPr wrap="square" lIns="0" tIns="0" rIns="0" bIns="0" rtlCol="0" anchor="ctr"/>
          <a:lstStyle/>
          <a:p>
            <a:pPr indent="0" marL="0">
              <a:lnSpc>
                <a:spcPct val="112000"/>
              </a:lnSpc>
              <a:buNone/>
            </a:pPr>
            <a:r>
              <a:rPr lang="en-US" sz="900" b="1" dirty="0">
                <a:solidFill>
                  <a:srgbClr val="12212E"/>
                </a:solidFill>
                <a:latin typeface="Calibri" pitchFamily="34" charset="0"/>
                <a:ea typeface="Calibri" pitchFamily="34" charset="-122"/>
                <a:cs typeface="Calibri" pitchFamily="34" charset="-120"/>
              </a:rPr>
              <a:t>Histogramas y boxplot
</a:t>
            </a:r>
            <a:pPr indent="0" marL="0">
              <a:lnSpc>
                <a:spcPct val="112000"/>
              </a:lnSpc>
              <a:buNone/>
            </a:pPr>
            <a:r>
              <a:rPr lang="en-US" sz="900" dirty="0">
                <a:solidFill>
                  <a:srgbClr val="52626E"/>
                </a:solidFill>
                <a:latin typeface="Calibri" pitchFamily="34" charset="0"/>
                <a:ea typeface="Calibri" pitchFamily="34" charset="-122"/>
                <a:cs typeface="Calibri" pitchFamily="34" charset="-120"/>
              </a:rPr>
              <a:t>la forma y la dispersión del factor dentro de cada estilo</a:t>
            </a:r>
            <a:endParaRPr lang="en-US" sz="900" dirty="0"/>
          </a:p>
        </p:txBody>
      </p:sp>
      <p:sp>
        <p:nvSpPr>
          <p:cNvPr id="7" name="Text 4"/>
          <p:cNvSpPr txBox="1"/>
          <p:nvPr/>
        </p:nvSpPr>
        <p:spPr>
          <a:xfrm>
            <a:off x="2560320" y="4279392"/>
            <a:ext cx="1920240" cy="566928"/>
          </a:xfrm>
          <a:prstGeom prst="rect">
            <a:avLst/>
          </a:prstGeom>
          <a:noFill/>
          <a:ln/>
        </p:spPr>
        <p:txBody>
          <a:bodyPr wrap="square" lIns="0" tIns="0" rIns="0" bIns="0" rtlCol="0" anchor="ctr"/>
          <a:lstStyle/>
          <a:p>
            <a:pPr indent="0" marL="0">
              <a:lnSpc>
                <a:spcPct val="112000"/>
              </a:lnSpc>
              <a:buNone/>
            </a:pPr>
            <a:r>
              <a:rPr lang="en-US" sz="900" b="1" dirty="0">
                <a:solidFill>
                  <a:srgbClr val="12212E"/>
                </a:solidFill>
                <a:latin typeface="Calibri" pitchFamily="34" charset="0"/>
                <a:ea typeface="Calibri" pitchFamily="34" charset="-122"/>
                <a:cs typeface="Calibri" pitchFamily="34" charset="-120"/>
              </a:rPr>
              <a:t>Matriz de correlación
</a:t>
            </a:r>
            <a:pPr indent="0" marL="0">
              <a:lnSpc>
                <a:spcPct val="112000"/>
              </a:lnSpc>
              <a:buNone/>
            </a:pPr>
            <a:r>
              <a:rPr lang="en-US" sz="900" dirty="0">
                <a:solidFill>
                  <a:srgbClr val="52626E"/>
                </a:solidFill>
                <a:latin typeface="Calibri" pitchFamily="34" charset="0"/>
                <a:ea typeface="Calibri" pitchFamily="34" charset="-122"/>
                <a:cs typeface="Calibri" pitchFamily="34" charset="-120"/>
              </a:rPr>
              <a:t>qué se mueve junto con el factor: distancia, edad, nivel</a:t>
            </a:r>
            <a:endParaRPr lang="en-US" sz="900" dirty="0"/>
          </a:p>
        </p:txBody>
      </p:sp>
      <p:sp>
        <p:nvSpPr>
          <p:cNvPr id="8" name="Text 5"/>
          <p:cNvSpPr txBox="1"/>
          <p:nvPr/>
        </p:nvSpPr>
        <p:spPr>
          <a:xfrm>
            <a:off x="4663440" y="4279392"/>
            <a:ext cx="1920240" cy="566928"/>
          </a:xfrm>
          <a:prstGeom prst="rect">
            <a:avLst/>
          </a:prstGeom>
          <a:noFill/>
          <a:ln/>
        </p:spPr>
        <p:txBody>
          <a:bodyPr wrap="square" lIns="0" tIns="0" rIns="0" bIns="0" rtlCol="0" anchor="ctr"/>
          <a:lstStyle/>
          <a:p>
            <a:pPr indent="0" marL="0">
              <a:lnSpc>
                <a:spcPct val="112000"/>
              </a:lnSpc>
              <a:buNone/>
            </a:pPr>
            <a:r>
              <a:rPr lang="en-US" sz="900" b="1" dirty="0">
                <a:solidFill>
                  <a:srgbClr val="12212E"/>
                </a:solidFill>
                <a:latin typeface="Calibri" pitchFamily="34" charset="0"/>
                <a:ea typeface="Calibri" pitchFamily="34" charset="-122"/>
                <a:cs typeface="Calibri" pitchFamily="34" charset="-120"/>
              </a:rPr>
              <a:t>Regresión
</a:t>
            </a:r>
            <a:pPr indent="0" marL="0">
              <a:lnSpc>
                <a:spcPct val="112000"/>
              </a:lnSpc>
              <a:buNone/>
            </a:pPr>
            <a:r>
              <a:rPr lang="en-US" sz="900" dirty="0">
                <a:solidFill>
                  <a:srgbClr val="52626E"/>
                </a:solidFill>
                <a:latin typeface="Calibri" pitchFamily="34" charset="0"/>
                <a:ea typeface="Calibri" pitchFamily="34" charset="-122"/>
                <a:cs typeface="Calibri" pitchFamily="34" charset="-120"/>
              </a:rPr>
              <a:t>si la ventaja crece con el número de virajes de cada prueba</a:t>
            </a:r>
            <a:endParaRPr lang="en-US" sz="900" dirty="0"/>
          </a:p>
        </p:txBody>
      </p:sp>
      <p:sp>
        <p:nvSpPr>
          <p:cNvPr id="9" name="Text 6"/>
          <p:cNvSpPr txBox="1"/>
          <p:nvPr/>
        </p:nvSpPr>
        <p:spPr>
          <a:xfrm>
            <a:off x="6766560" y="4279392"/>
            <a:ext cx="1920240" cy="566928"/>
          </a:xfrm>
          <a:prstGeom prst="rect">
            <a:avLst/>
          </a:prstGeom>
          <a:noFill/>
          <a:ln/>
        </p:spPr>
        <p:txBody>
          <a:bodyPr wrap="square" lIns="0" tIns="0" rIns="0" bIns="0" rtlCol="0" anchor="ctr"/>
          <a:lstStyle/>
          <a:p>
            <a:pPr indent="0" marL="0">
              <a:lnSpc>
                <a:spcPct val="112000"/>
              </a:lnSpc>
              <a:buNone/>
            </a:pPr>
            <a:r>
              <a:rPr lang="en-US" sz="900" b="1" dirty="0">
                <a:solidFill>
                  <a:srgbClr val="12212E"/>
                </a:solidFill>
                <a:latin typeface="Calibri" pitchFamily="34" charset="0"/>
                <a:ea typeface="Calibri" pitchFamily="34" charset="-122"/>
                <a:cs typeface="Calibri" pitchFamily="34" charset="-120"/>
              </a:rPr>
              <a:t>Margen de error
</a:t>
            </a:r>
            <a:pPr indent="0" marL="0">
              <a:lnSpc>
                <a:spcPct val="112000"/>
              </a:lnSpc>
              <a:buNone/>
            </a:pPr>
            <a:r>
              <a:rPr lang="en-US" sz="900" dirty="0">
                <a:solidFill>
                  <a:srgbClr val="52626E"/>
                </a:solidFill>
                <a:latin typeface="Calibri" pitchFamily="34" charset="0"/>
                <a:ea typeface="Calibri" pitchFamily="34" charset="-122"/>
                <a:cs typeface="Calibri" pitchFamily="34" charset="-120"/>
              </a:rPr>
              <a:t>qué diferencias con la tabla oficial son reales y cuáles son ruido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2026-09-02T15:03:31Z</dcterms:created>
  <dcterms:modified xsi:type="dcterms:W3CDTF">2026-09-02T15:03:31Z</dcterms:modified>
</cp:coreProperties>
</file>